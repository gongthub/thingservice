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89" r:id="rId2"/>
    <p:sldId id="370" r:id="rId3"/>
    <p:sldId id="309" r:id="rId4"/>
    <p:sldId id="351" r:id="rId5"/>
    <p:sldId id="357" r:id="rId6"/>
    <p:sldId id="358" r:id="rId7"/>
    <p:sldId id="359" r:id="rId8"/>
    <p:sldId id="360" r:id="rId9"/>
    <p:sldId id="361" r:id="rId10"/>
    <p:sldId id="365" r:id="rId11"/>
    <p:sldId id="363" r:id="rId12"/>
    <p:sldId id="364" r:id="rId13"/>
    <p:sldId id="366" r:id="rId14"/>
    <p:sldId id="367" r:id="rId15"/>
    <p:sldId id="372" r:id="rId16"/>
    <p:sldId id="368" r:id="rId17"/>
    <p:sldId id="369" r:id="rId18"/>
    <p:sldId id="308" r:id="rId19"/>
  </p:sldIdLst>
  <p:sldSz cx="9144000" cy="6858000" type="screen4x3"/>
  <p:notesSz cx="6805613" cy="9939338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>
          <p15:clr>
            <a:srgbClr val="A4A3A4"/>
          </p15:clr>
        </p15:guide>
        <p15:guide id="2" pos="28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1" initials="p" lastIdx="10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00"/>
    <a:srgbClr val="DDDDDD"/>
    <a:srgbClr val="800080"/>
    <a:srgbClr val="FF9900"/>
    <a:srgbClr val="F8E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3193" autoAdjust="0"/>
  </p:normalViewPr>
  <p:slideViewPr>
    <p:cSldViewPr>
      <p:cViewPr varScale="1">
        <p:scale>
          <a:sx n="60" d="100"/>
          <a:sy n="60" d="100"/>
        </p:scale>
        <p:origin x="1434" y="42"/>
      </p:cViewPr>
      <p:guideLst>
        <p:guide orient="horz" pos="2195"/>
        <p:guide pos="2857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934" y="60"/>
      </p:cViewPr>
      <p:guideLst/>
    </p:cSldViewPr>
  </p:notesViewPr>
  <p:gridSpacing cx="71438" cy="7143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95E23-3343-46C1-945D-26CE9873B609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74B0E-03BE-4C0F-879D-B2BC7C4406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513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F916B-B780-40A9-8742-C2B220D749C0}" type="datetimeFigureOut">
              <a:rPr lang="zh-CN" altLang="en-US" smtClean="0"/>
              <a:t>2015/11/23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39" y="9440646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8E221-341C-4D0B-9680-52FD15B576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35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323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785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新公寓安装兵并初始化智能门锁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初始化的智能门锁对应的管理员电子密钥批量导入云端管理系统，每一把智能门锁对应</a:t>
            </a:r>
            <a:r>
              <a:rPr lang="en-US" altLang="zh-CN" dirty="0" smtClean="0"/>
              <a:t>APARTMENTID</a:t>
            </a:r>
            <a:r>
              <a:rPr lang="zh-CN" altLang="en-US" dirty="0" smtClean="0"/>
              <a:t>和</a:t>
            </a:r>
            <a:r>
              <a:rPr lang="en-US" altLang="zh-CN" dirty="0" smtClean="0"/>
              <a:t>ROOMID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运营部可在后台看到新门店门锁对应公寓信息，并可进行管理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新店开业前，对门店店长培训，了解门锁使用方式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384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租户至店长室签约付款后，提供手机号，身份证等信息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店长在</a:t>
            </a:r>
            <a:r>
              <a:rPr lang="en-US" altLang="zh-CN" dirty="0" smtClean="0"/>
              <a:t>OMS</a:t>
            </a:r>
            <a:r>
              <a:rPr lang="zh-CN" altLang="en-US" dirty="0" smtClean="0"/>
              <a:t>进行租户信息录入时，开启租户手机开锁功能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店长协助租户安装</a:t>
            </a:r>
            <a:r>
              <a:rPr lang="en-US" altLang="zh-CN" dirty="0" smtClean="0"/>
              <a:t>V</a:t>
            </a:r>
            <a:r>
              <a:rPr lang="zh-CN" altLang="en-US" dirty="0" smtClean="0"/>
              <a:t>领地智慧社区</a:t>
            </a:r>
            <a:r>
              <a:rPr lang="en-US" altLang="zh-CN" dirty="0" smtClean="0"/>
              <a:t>APP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支付完成后，系统自动将电子钥匙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密码信息发送到租户手机智慧社区</a:t>
            </a:r>
            <a:r>
              <a:rPr lang="en-US" altLang="zh-CN" dirty="0" smtClean="0"/>
              <a:t>APP</a:t>
            </a:r>
            <a:r>
              <a:rPr lang="zh-CN" altLang="en-US" dirty="0" smtClean="0"/>
              <a:t>中</a:t>
            </a:r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租户可通手机电子钥匙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密码开启门锁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179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租户至店长室进行换房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店长在</a:t>
            </a:r>
            <a:r>
              <a:rPr lang="en-US" altLang="zh-CN" dirty="0" smtClean="0"/>
              <a:t>AMS</a:t>
            </a:r>
            <a:r>
              <a:rPr lang="zh-CN" altLang="en-US" dirty="0" smtClean="0"/>
              <a:t>进行换房操作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支付完成后，系统自动收回原房间电子钥匙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密码信息，并将信访件电子钥匙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密码信息发送到租户智慧社区</a:t>
            </a:r>
            <a:r>
              <a:rPr lang="en-US" altLang="zh-CN" dirty="0" smtClean="0"/>
              <a:t>APP</a:t>
            </a:r>
            <a:r>
              <a:rPr lang="zh-CN" altLang="en-US" dirty="0" smtClean="0"/>
              <a:t>中 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租户无法通过原电子钥匙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密码打开原房间门锁，可通过新电子钥匙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密码打开新房间门锁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566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租户至店长室进行续费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店长在</a:t>
            </a:r>
            <a:r>
              <a:rPr lang="en-US" altLang="zh-CN" dirty="0" smtClean="0"/>
              <a:t>AMS</a:t>
            </a:r>
            <a:r>
              <a:rPr lang="zh-CN" altLang="en-US" dirty="0" smtClean="0"/>
              <a:t>进行续费操作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支付完成后，系统自动在上次缴费的基础上，延长电子钥匙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密码使用期限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租户能继续通过门卡</a:t>
            </a:r>
            <a:r>
              <a:rPr lang="en-US" altLang="zh-CN" dirty="0" smtClean="0"/>
              <a:t>/</a:t>
            </a:r>
            <a:r>
              <a:rPr lang="zh-CN" altLang="en-US" dirty="0" smtClean="0"/>
              <a:t>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密码开启门锁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725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租户已缴费用到期，并在即将到期前通知用户缴费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系统自动收回原房间电子钥匙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密码信息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租户必须缴费才能开门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058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租户至店长室进行退房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店长在</a:t>
            </a:r>
            <a:r>
              <a:rPr lang="en-US" altLang="zh-CN" dirty="0" smtClean="0"/>
              <a:t>AMS</a:t>
            </a:r>
            <a:r>
              <a:rPr lang="zh-CN" altLang="en-US" dirty="0" smtClean="0"/>
              <a:t>进行退房操作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退房完成后，系统自动收回电子钥匙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租户无法通过电子钥匙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密码开启门锁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599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租户与合租人通过</a:t>
            </a:r>
            <a:r>
              <a:rPr lang="en-US" altLang="zh-CN" dirty="0" smtClean="0"/>
              <a:t>V</a:t>
            </a:r>
            <a:r>
              <a:rPr lang="zh-CN" altLang="en-US" dirty="0" smtClean="0"/>
              <a:t>领地智慧社区平台，申请变更合租人信息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合租人在手机端安装</a:t>
            </a:r>
            <a:r>
              <a:rPr lang="en-US" altLang="zh-CN" dirty="0" smtClean="0"/>
              <a:t>V</a:t>
            </a:r>
            <a:r>
              <a:rPr lang="zh-CN" altLang="en-US" dirty="0" smtClean="0"/>
              <a:t>领地智慧社区</a:t>
            </a:r>
            <a:r>
              <a:rPr lang="en-US" altLang="zh-CN" dirty="0" smtClean="0"/>
              <a:t>APP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申请通过后，系统自动将电子钥匙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密码发送到合租人手机端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租户和合租人都可以通过电子钥匙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密码开启门锁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603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租户与新合租人通过</a:t>
            </a:r>
            <a:r>
              <a:rPr lang="en-US" altLang="zh-CN" dirty="0" smtClean="0"/>
              <a:t>V</a:t>
            </a:r>
            <a:r>
              <a:rPr lang="zh-CN" altLang="en-US" dirty="0" smtClean="0"/>
              <a:t>领地智慧社区平台，申请变更合租人信息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新合租人在手机端安装</a:t>
            </a:r>
            <a:r>
              <a:rPr lang="en-US" altLang="zh-CN" dirty="0" smtClean="0"/>
              <a:t>V</a:t>
            </a:r>
            <a:r>
              <a:rPr lang="zh-CN" altLang="en-US" dirty="0" smtClean="0"/>
              <a:t>领地智慧社区</a:t>
            </a:r>
            <a:r>
              <a:rPr lang="en-US" altLang="zh-CN" dirty="0" smtClean="0"/>
              <a:t>APP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申请通过后，系统自动将电子钥匙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密码发送到新合租人手机端，同时，收回原合租人的电子钥匙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租户和新合租人都可以通过电子钥匙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密码开启门锁，原合租人无法通过电子钥匙</a:t>
            </a:r>
            <a:r>
              <a:rPr lang="en-US" altLang="zh-CN" dirty="0" smtClean="0"/>
              <a:t>/</a:t>
            </a:r>
            <a:r>
              <a:rPr lang="zh-CN" altLang="en-US" dirty="0" smtClean="0"/>
              <a:t>密码开启门锁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11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租户有访客来访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租户可通过手机客户端申请临时开锁密码，须填写密码有效期，短信验证码</a:t>
            </a:r>
            <a:r>
              <a:rPr lang="en-US" altLang="zh-CN" dirty="0" smtClean="0"/>
              <a:t>,</a:t>
            </a:r>
            <a:r>
              <a:rPr lang="zh-CN" altLang="en-US" dirty="0" smtClean="0"/>
              <a:t>或通过</a:t>
            </a:r>
            <a:r>
              <a:rPr lang="en-US" altLang="zh-CN" dirty="0" smtClean="0"/>
              <a:t>V</a:t>
            </a:r>
            <a:r>
              <a:rPr lang="zh-CN" altLang="en-US" dirty="0" smtClean="0"/>
              <a:t>领地智慧社区</a:t>
            </a:r>
            <a:r>
              <a:rPr lang="en-US" altLang="zh-CN" dirty="0" smtClean="0"/>
              <a:t>APP</a:t>
            </a:r>
            <a:r>
              <a:rPr lang="zh-CN" altLang="en-US" dirty="0" smtClean="0"/>
              <a:t>转发要电子钥匙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申请时需租户同意相关风险协议</a:t>
            </a:r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申请完成后，系统自动发送密码到租户手机端</a:t>
            </a:r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租户告知访客临时密码，访客可通过临时密码打开门锁</a:t>
            </a:r>
          </a:p>
          <a:p>
            <a:r>
              <a:rPr lang="en-US" altLang="zh-CN" dirty="0" smtClean="0"/>
              <a:t>6.</a:t>
            </a:r>
            <a:r>
              <a:rPr lang="zh-CN" altLang="en-US" dirty="0" smtClean="0"/>
              <a:t>临时密码过期后，无法再次通过该临时密码打开门锁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064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住户可以通过</a:t>
            </a:r>
            <a:r>
              <a:rPr lang="en-US" altLang="zh-CN" dirty="0" smtClean="0"/>
              <a:t>V</a:t>
            </a:r>
            <a:r>
              <a:rPr lang="zh-CN" altLang="en-US" dirty="0" smtClean="0"/>
              <a:t>领地智慧社区后台，验证身份后收回手机电子钥匙 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租户通过申请的临时密码进入房间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294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门锁剩余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10%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电量，通过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告知租户，并将信息同步云端管理系统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2.V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领地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的管家巡检时更换电池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610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通过云端管理系统对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领地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所有智能门锁进行远程管理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授权人员可查看所有门店所有房间的开锁记录，门锁状态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可进行大数据分析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58E221-341C-4D0B-9680-52FD15B5769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058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36550" y="12223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27550" y="12223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9238" y="274638"/>
            <a:ext cx="2087562" cy="5473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6550" y="274638"/>
            <a:ext cx="6110288" cy="54737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 bright="70000" contrast="-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6"/>
          <p:cNvSpPr>
            <a:spLocks noChangeArrowheads="1"/>
          </p:cNvSpPr>
          <p:nvPr/>
        </p:nvSpPr>
        <p:spPr bwMode="auto">
          <a:xfrm>
            <a:off x="9010650" y="404813"/>
            <a:ext cx="109538" cy="2232025"/>
          </a:xfrm>
          <a:prstGeom prst="rect">
            <a:avLst/>
          </a:prstGeom>
          <a:solidFill>
            <a:srgbClr val="F8E0B1"/>
          </a:solidFill>
          <a:ln w="9525">
            <a:noFill/>
            <a:miter lim="800000"/>
            <a:headEnd/>
            <a:tailEnd/>
          </a:ln>
        </p:spPr>
        <p:txBody>
          <a:bodyPr lIns="90170" tIns="46990" rIns="90170" bIns="46990"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itchFamily="2" charset="-122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1027" name="矩形 4"/>
          <p:cNvSpPr>
            <a:spLocks/>
          </p:cNvSpPr>
          <p:nvPr/>
        </p:nvSpPr>
        <p:spPr bwMode="auto">
          <a:xfrm>
            <a:off x="0" y="6500813"/>
            <a:ext cx="9144000" cy="407987"/>
          </a:xfrm>
          <a:custGeom>
            <a:avLst/>
            <a:gdLst>
              <a:gd name="T0" fmla="*/ 0 w 9144000"/>
              <a:gd name="T1" fmla="*/ 0 h 360040"/>
              <a:gd name="T2" fmla="*/ 9144000 w 9144000"/>
              <a:gd name="T3" fmla="*/ 360040 h 360040"/>
            </a:gdLst>
            <a:ahLst/>
            <a:cxnLst/>
            <a:rect l="T0" t="T1" r="T2" b="T3"/>
            <a:pathLst/>
          </a:custGeom>
          <a:solidFill>
            <a:srgbClr val="7F7F7F">
              <a:alpha val="20000"/>
            </a:srgb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8" name="直接连接符 8"/>
          <p:cNvSpPr>
            <a:spLocks noChangeShapeType="1"/>
          </p:cNvSpPr>
          <p:nvPr/>
        </p:nvSpPr>
        <p:spPr bwMode="auto">
          <a:xfrm>
            <a:off x="9036050" y="2703513"/>
            <a:ext cx="1588" cy="3605212"/>
          </a:xfrm>
          <a:prstGeom prst="line">
            <a:avLst/>
          </a:prstGeom>
          <a:noFill/>
          <a:ln w="9525" cap="flat" cmpd="sng">
            <a:solidFill>
              <a:srgbClr val="7F7F7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550" y="122237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 smtClean="0">
                <a:sym typeface="Calibri" pitchFamily="34" charset="0"/>
              </a:rPr>
              <a:t>第二级</a:t>
            </a:r>
          </a:p>
          <a:p>
            <a:pPr lvl="2"/>
            <a:r>
              <a:rPr lang="zh-CN" smtClean="0">
                <a:sym typeface="Calibri" pitchFamily="34" charset="0"/>
              </a:rPr>
              <a:t>第三级</a:t>
            </a:r>
          </a:p>
          <a:p>
            <a:pPr lvl="3"/>
            <a:r>
              <a:rPr lang="zh-CN" smtClean="0">
                <a:sym typeface="Calibri" pitchFamily="34" charset="0"/>
              </a:rPr>
              <a:t>第四级</a:t>
            </a:r>
          </a:p>
          <a:p>
            <a:pPr lvl="4"/>
            <a:r>
              <a:rPr lang="zh-CN" smtClean="0">
                <a:sym typeface="Calibri" pitchFamily="34" charset="0"/>
              </a:rPr>
              <a:t>第五级</a:t>
            </a:r>
          </a:p>
        </p:txBody>
      </p:sp>
      <p:pic>
        <p:nvPicPr>
          <p:cNvPr id="1030" name="Picture 6" descr="中文版logo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22250" y="92075"/>
            <a:ext cx="1089025" cy="558800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</p:spPr>
      </p:pic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239713" y="704850"/>
            <a:ext cx="8593137" cy="368300"/>
          </a:xfrm>
          <a:prstGeom prst="rect">
            <a:avLst/>
          </a:prstGeom>
          <a:solidFill>
            <a:srgbClr val="DDDDDD"/>
          </a:solidFill>
          <a:ln w="9525" cap="flat" cmpd="sng">
            <a:noFill/>
            <a:bevel/>
            <a:headEnd/>
            <a:tailEnd/>
          </a:ln>
          <a:effectLst/>
        </p:spPr>
        <p:txBody>
          <a:bodyPr lIns="90170" tIns="46990" rIns="90170" bIns="46990">
            <a:spAutoFit/>
          </a:bodyPr>
          <a:lstStyle/>
          <a:p>
            <a:endParaRPr lang="zh-CN" altLang="zh-CN"/>
          </a:p>
        </p:txBody>
      </p:sp>
      <p:pic>
        <p:nvPicPr>
          <p:cNvPr id="1032" name="Picture 8" descr="5555555"/>
          <p:cNvPicPr>
            <a:picLocks noChangeAspect="1" noChangeArrowheads="1"/>
          </p:cNvPicPr>
          <p:nvPr userDrawn="1"/>
        </p:nvPicPr>
        <p:blipFill>
          <a:blip r:embed="rId15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-100000" contrast="-100000"/>
          </a:blip>
          <a:srcRect/>
          <a:stretch>
            <a:fillRect/>
          </a:stretch>
        </p:blipFill>
        <p:spPr bwMode="auto">
          <a:xfrm>
            <a:off x="6926263" y="244475"/>
            <a:ext cx="2014537" cy="508000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</p:spPr>
      </p:pic>
      <p:sp>
        <p:nvSpPr>
          <p:cNvPr id="1033" name="Rectangle 4"/>
          <p:cNvSpPr>
            <a:spLocks noChangeArrowheads="1"/>
          </p:cNvSpPr>
          <p:nvPr userDrawn="1"/>
        </p:nvSpPr>
        <p:spPr bwMode="auto">
          <a:xfrm>
            <a:off x="3175" y="6781800"/>
            <a:ext cx="9144000" cy="76200"/>
          </a:xfrm>
          <a:prstGeom prst="rect">
            <a:avLst/>
          </a:prstGeom>
          <a:solidFill>
            <a:schemeClr val="bg2"/>
          </a:solidFill>
          <a:ln w="9525" cap="flat" cmpd="sng">
            <a:noFill/>
            <a:bevel/>
            <a:headEnd/>
            <a:tailEnd/>
          </a:ln>
          <a:effectLst/>
        </p:spPr>
        <p:txBody>
          <a:bodyPr anchor="ctr"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6524625" y="6508750"/>
            <a:ext cx="2438400" cy="244475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000">
                <a:solidFill>
                  <a:srgbClr val="777777"/>
                </a:solidFill>
                <a:ea typeface="宋体" pitchFamily="2" charset="-122"/>
              </a:rPr>
              <a:t>我的城市  我的家     My City   My Home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marL="9144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2pPr>
      <a:lvl3pPr marL="9144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3pPr>
      <a:lvl4pPr marL="9144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4pPr>
      <a:lvl5pPr marL="9144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wmf"/><Relationship Id="rId12" Type="http://schemas.openxmlformats.org/officeDocument/2006/relationships/image" Target="../media/image6.png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1.xml"/><Relationship Id="rId6" Type="http://schemas.openxmlformats.org/officeDocument/2006/relationships/oleObject" Target="../embeddings/oleObject1.bin"/><Relationship Id="rId11" Type="http://schemas.openxmlformats.org/officeDocument/2006/relationships/oleObject" Target="../embeddings/oleObject2.bin"/><Relationship Id="rId5" Type="http://schemas.openxmlformats.org/officeDocument/2006/relationships/image" Target="../media/image1.jpeg"/><Relationship Id="rId10" Type="http://schemas.openxmlformats.org/officeDocument/2006/relationships/image" Target="../media/image9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png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png"/><Relationship Id="rId11" Type="http://schemas.openxmlformats.org/officeDocument/2006/relationships/image" Target="../media/image16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1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1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4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6.png"/><Relationship Id="rId12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png"/><Relationship Id="rId11" Type="http://schemas.openxmlformats.org/officeDocument/2006/relationships/image" Target="../media/image8.png"/><Relationship Id="rId5" Type="http://schemas.openxmlformats.org/officeDocument/2006/relationships/image" Target="../media/image14.png"/><Relationship Id="rId10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3.png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png"/><Relationship Id="rId11" Type="http://schemas.openxmlformats.org/officeDocument/2006/relationships/image" Target="../media/image8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cid:image004.png@01D01BAE.4A524730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1659" y="4834643"/>
            <a:ext cx="6215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latin typeface="+mj-ea"/>
                <a:ea typeface="+mj-ea"/>
              </a:rPr>
              <a:t>智能门锁方案</a:t>
            </a:r>
            <a:endParaRPr lang="zh-CN" altLang="en-US" sz="4000" b="1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15140" y="6191928"/>
            <a:ext cx="2143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dirty="0" smtClean="0"/>
              <a:t>IT</a:t>
            </a:r>
          </a:p>
        </p:txBody>
      </p:sp>
      <p:pic>
        <p:nvPicPr>
          <p:cNvPr id="6" name="图片-1.png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57" y="5072075"/>
            <a:ext cx="1124501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571472" y="2643182"/>
            <a:ext cx="7772400" cy="1470025"/>
          </a:xfrm>
        </p:spPr>
        <p:txBody>
          <a:bodyPr anchor="ctr"/>
          <a:lstStyle/>
          <a:p>
            <a:r>
              <a:rPr lang="zh-CN" altLang="en-US" b="1" dirty="0" smtClean="0"/>
              <a:t>一、操作流程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77739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blipFill dpi="0" rotWithShape="1">
          <a:blip r:embed="rId5">
            <a:lum bright="70000" contrast="-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2390069" y="682349"/>
            <a:ext cx="4394981" cy="306987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n-ea"/>
                <a:ea typeface="+mn-ea"/>
                <a:sym typeface="Arial" charset="0"/>
              </a:rPr>
              <a:t>1</a:t>
            </a:r>
            <a:r>
              <a:rPr lang="zh-CN" altLang="en-US" sz="2800" b="1" dirty="0" smtClean="0">
                <a:latin typeface="+mn-ea"/>
                <a:ea typeface="+mn-ea"/>
                <a:sym typeface="Arial" charset="0"/>
              </a:rPr>
              <a:t>、新</a:t>
            </a:r>
            <a:r>
              <a:rPr lang="zh-CN" altLang="en-US" sz="2800" b="1" dirty="0">
                <a:latin typeface="+mn-ea"/>
                <a:ea typeface="+mn-ea"/>
                <a:sym typeface="Arial" charset="0"/>
              </a:rPr>
              <a:t>店初始化</a:t>
            </a:r>
            <a:r>
              <a:rPr lang="zh-CN" altLang="en-US" sz="2800" b="1" dirty="0" smtClean="0">
                <a:latin typeface="+mn-ea"/>
                <a:ea typeface="+mn-ea"/>
                <a:sym typeface="Arial" charset="0"/>
              </a:rPr>
              <a:t>安装门锁</a:t>
            </a:r>
            <a:endParaRPr lang="zh-CN" altLang="zh-CN" sz="2800" b="1" dirty="0" smtClean="0">
              <a:latin typeface="+mn-ea"/>
              <a:ea typeface="+mn-ea"/>
              <a:sym typeface="Arial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833622"/>
              </p:ext>
            </p:extLst>
          </p:nvPr>
        </p:nvGraphicFramePr>
        <p:xfrm>
          <a:off x="928662" y="1328713"/>
          <a:ext cx="1464991" cy="1600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" r:id="rId6" imgW="2476080" imgH="2704680" progId="">
                  <p:embed/>
                </p:oleObj>
              </mc:Choice>
              <mc:Fallback>
                <p:oleObj r:id="rId6" imgW="2476080" imgH="27046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8662" y="1328713"/>
                        <a:ext cx="1464991" cy="1600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31219" y="3000372"/>
            <a:ext cx="135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新公寓开业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535838" y="29289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智能门锁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6427412" y="1214422"/>
            <a:ext cx="1285884" cy="1669937"/>
            <a:chOff x="4357686" y="1428736"/>
            <a:chExt cx="1857388" cy="2087592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6482" y="1428736"/>
              <a:ext cx="1428592" cy="1792931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524" y="1571612"/>
              <a:ext cx="1428592" cy="179293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7686" y="1723397"/>
              <a:ext cx="1428592" cy="1792931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3541438" y="2857496"/>
            <a:ext cx="1744942" cy="1743889"/>
            <a:chOff x="814316" y="4357694"/>
            <a:chExt cx="2286016" cy="2286016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316" y="4357694"/>
              <a:ext cx="2286016" cy="2286016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001495" y="5530918"/>
              <a:ext cx="2092336" cy="766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智能物联</a:t>
              </a:r>
              <a:endPara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云端管理系统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076" y="4617582"/>
            <a:ext cx="1497948" cy="1383186"/>
          </a:xfrm>
          <a:prstGeom prst="rect">
            <a:avLst/>
          </a:prstGeom>
        </p:spPr>
      </p:pic>
      <p:sp>
        <p:nvSpPr>
          <p:cNvPr id="25" name="文本框 6"/>
          <p:cNvSpPr txBox="1"/>
          <p:nvPr/>
        </p:nvSpPr>
        <p:spPr>
          <a:xfrm>
            <a:off x="6785050" y="6131502"/>
            <a:ext cx="135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运营部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015124"/>
              </p:ext>
            </p:extLst>
          </p:nvPr>
        </p:nvGraphicFramePr>
        <p:xfrm>
          <a:off x="928662" y="4343412"/>
          <a:ext cx="1465262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" r:id="rId11" imgW="2476190" imgH="2704762" progId="">
                  <p:embed/>
                </p:oleObj>
              </mc:Choice>
              <mc:Fallback>
                <p:oleObj r:id="rId11" imgW="2476190" imgH="2704762" progId="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62" y="4343412"/>
                        <a:ext cx="1465262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149" y="5284363"/>
            <a:ext cx="448218" cy="616903"/>
          </a:xfrm>
          <a:prstGeom prst="rect">
            <a:avLst/>
          </a:prstGeom>
        </p:spPr>
      </p:pic>
      <p:sp>
        <p:nvSpPr>
          <p:cNvPr id="31" name="文本框 27"/>
          <p:cNvSpPr txBox="1"/>
          <p:nvPr/>
        </p:nvSpPr>
        <p:spPr>
          <a:xfrm>
            <a:off x="1067249" y="598648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公寓店长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02818" y="5305024"/>
            <a:ext cx="2812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培训智能门锁使用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17132" y="1966372"/>
            <a:ext cx="173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安装，初始化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箭头连接符 33"/>
          <p:cNvCxnSpPr/>
          <p:nvPr/>
        </p:nvCxnSpPr>
        <p:spPr bwMode="auto">
          <a:xfrm>
            <a:off x="3774860" y="2304926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2085"/>
          <p:cNvSpPr txBox="1"/>
          <p:nvPr/>
        </p:nvSpPr>
        <p:spPr>
          <a:xfrm>
            <a:off x="3295306" y="1872447"/>
            <a:ext cx="2053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安装初始化智能门锁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7" name="直接箭头连接符 36"/>
          <p:cNvCxnSpPr/>
          <p:nvPr/>
        </p:nvCxnSpPr>
        <p:spPr bwMode="auto">
          <a:xfrm flipH="1">
            <a:off x="5345179" y="2857496"/>
            <a:ext cx="815618" cy="61562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8" name="TextBox 2085"/>
          <p:cNvSpPr txBox="1"/>
          <p:nvPr/>
        </p:nvSpPr>
        <p:spPr>
          <a:xfrm rot="19275560">
            <a:off x="4901420" y="2526632"/>
            <a:ext cx="2053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导入配置信息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 bwMode="auto">
          <a:xfrm>
            <a:off x="5429255" y="4293626"/>
            <a:ext cx="785819" cy="66459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0" name="TextBox 2085"/>
          <p:cNvSpPr txBox="1"/>
          <p:nvPr/>
        </p:nvSpPr>
        <p:spPr>
          <a:xfrm rot="2459736">
            <a:off x="5246333" y="4569713"/>
            <a:ext cx="2053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配置管理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 bwMode="auto">
          <a:xfrm flipH="1" flipV="1">
            <a:off x="3617133" y="5771381"/>
            <a:ext cx="1465485" cy="2416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TextBox 2085"/>
          <p:cNvSpPr txBox="1"/>
          <p:nvPr/>
        </p:nvSpPr>
        <p:spPr>
          <a:xfrm>
            <a:off x="3472302" y="5399702"/>
            <a:ext cx="2053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新店培训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7" name="直接箭头连接符 46"/>
          <p:cNvCxnSpPr/>
          <p:nvPr/>
        </p:nvCxnSpPr>
        <p:spPr bwMode="auto">
          <a:xfrm flipV="1">
            <a:off x="1592148" y="3406168"/>
            <a:ext cx="1" cy="69515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TextBox 2085"/>
          <p:cNvSpPr txBox="1"/>
          <p:nvPr/>
        </p:nvSpPr>
        <p:spPr>
          <a:xfrm>
            <a:off x="928662" y="3941172"/>
            <a:ext cx="2053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驻店投入使用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4863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565284" y="679808"/>
            <a:ext cx="4509408" cy="248862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j-ea"/>
                <a:sym typeface="Arial" charset="0"/>
              </a:rPr>
              <a:t>2</a:t>
            </a:r>
            <a:r>
              <a:rPr lang="zh-CN" altLang="en-US" sz="2800" b="1" dirty="0" smtClean="0">
                <a:latin typeface="+mj-ea"/>
                <a:sym typeface="Arial" charset="0"/>
              </a:rPr>
              <a:t>、租户申请使用手机开锁</a:t>
            </a:r>
            <a:endParaRPr lang="zh-CN" altLang="zh-CN" sz="2800" b="1" dirty="0" smtClean="0">
              <a:latin typeface="+mj-ea"/>
              <a:sym typeface="Arial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286248" y="1190488"/>
            <a:ext cx="1159091" cy="1452694"/>
            <a:chOff x="642910" y="1204602"/>
            <a:chExt cx="1143008" cy="132852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916896" y="2252850"/>
              <a:ext cx="484944" cy="2802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租户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50" name="组合 2049"/>
          <p:cNvGrpSpPr/>
          <p:nvPr/>
        </p:nvGrpSpPr>
        <p:grpSpPr>
          <a:xfrm>
            <a:off x="649554" y="1146231"/>
            <a:ext cx="1156969" cy="1639827"/>
            <a:chOff x="1376273" y="3071810"/>
            <a:chExt cx="1124024" cy="1445597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9497353"/>
                </p:ext>
              </p:extLst>
            </p:nvPr>
          </p:nvGraphicFramePr>
          <p:xfrm>
            <a:off x="1376273" y="3071810"/>
            <a:ext cx="1124024" cy="11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3" r:id="rId5" imgW="2476190" imgH="2704762" progId="">
                    <p:embed/>
                  </p:oleObj>
                </mc:Choice>
                <mc:Fallback>
                  <p:oleObj r:id="rId5" imgW="2476190" imgH="270476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273" y="3071810"/>
                          <a:ext cx="1124024" cy="1128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1369" y="3730547"/>
              <a:ext cx="357599" cy="45247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658336" y="4239871"/>
              <a:ext cx="477765" cy="277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店长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211416" y="3850958"/>
            <a:ext cx="1898449" cy="1417139"/>
            <a:chOff x="2808324" y="3201389"/>
            <a:chExt cx="2157564" cy="1444137"/>
          </a:xfrm>
        </p:grpSpPr>
        <p:pic>
          <p:nvPicPr>
            <p:cNvPr id="16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3078" y="3201389"/>
              <a:ext cx="1085201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2808324" y="4331886"/>
              <a:ext cx="2157564" cy="313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领地智慧社区平台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477890" y="5349835"/>
            <a:ext cx="984800" cy="1288414"/>
            <a:chOff x="5661822" y="3163072"/>
            <a:chExt cx="1119210" cy="1312960"/>
          </a:xfrm>
        </p:grpSpPr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3163072"/>
              <a:ext cx="977464" cy="908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5661822" y="4143380"/>
              <a:ext cx="1119210" cy="332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门锁密码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49" name="组合 2048"/>
          <p:cNvGrpSpPr/>
          <p:nvPr/>
        </p:nvGrpSpPr>
        <p:grpSpPr>
          <a:xfrm>
            <a:off x="5441326" y="3915977"/>
            <a:ext cx="984800" cy="1370411"/>
            <a:chOff x="1200063" y="4998833"/>
            <a:chExt cx="902811" cy="1292092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0063" y="4998833"/>
              <a:ext cx="902811" cy="115359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200063" y="5983148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电子门锁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51" name="组合 2050"/>
          <p:cNvGrpSpPr/>
          <p:nvPr/>
        </p:nvGrpSpPr>
        <p:grpSpPr>
          <a:xfrm>
            <a:off x="7074692" y="3442300"/>
            <a:ext cx="1484050" cy="1558336"/>
            <a:chOff x="1354124" y="5001259"/>
            <a:chExt cx="1272375" cy="1287415"/>
          </a:xfrm>
        </p:grpSpPr>
        <p:sp>
          <p:nvSpPr>
            <p:cNvPr id="9" name="TextBox 8"/>
            <p:cNvSpPr txBox="1"/>
            <p:nvPr/>
          </p:nvSpPr>
          <p:spPr>
            <a:xfrm>
              <a:off x="1674274" y="6029847"/>
              <a:ext cx="493160" cy="258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公寓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48" name="图片 2047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4124" y="5001259"/>
              <a:ext cx="1272375" cy="1140180"/>
            </a:xfrm>
            <a:prstGeom prst="rect">
              <a:avLst/>
            </a:prstGeom>
          </p:spPr>
        </p:pic>
      </p:grpSp>
      <p:sp>
        <p:nvSpPr>
          <p:cNvPr id="6" name="十字形 5"/>
          <p:cNvSpPr/>
          <p:nvPr/>
        </p:nvSpPr>
        <p:spPr bwMode="auto">
          <a:xfrm>
            <a:off x="4676999" y="4334790"/>
            <a:ext cx="455906" cy="429873"/>
          </a:xfrm>
          <a:prstGeom prst="plus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139978" y="3621333"/>
            <a:ext cx="3432286" cy="3022378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2056" name="直接连接符 2055"/>
          <p:cNvCxnSpPr/>
          <p:nvPr/>
        </p:nvCxnSpPr>
        <p:spPr bwMode="auto">
          <a:xfrm flipV="1">
            <a:off x="1928794" y="5428766"/>
            <a:ext cx="409127" cy="574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接箭头连接符 39"/>
          <p:cNvCxnSpPr/>
          <p:nvPr/>
        </p:nvCxnSpPr>
        <p:spPr bwMode="auto">
          <a:xfrm flipV="1">
            <a:off x="2337194" y="4571091"/>
            <a:ext cx="690529" cy="287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直接箭头连接符 50"/>
          <p:cNvCxnSpPr/>
          <p:nvPr/>
        </p:nvCxnSpPr>
        <p:spPr bwMode="auto">
          <a:xfrm flipV="1">
            <a:off x="4857752" y="2714620"/>
            <a:ext cx="0" cy="8352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直接箭头连接符 52"/>
          <p:cNvCxnSpPr/>
          <p:nvPr/>
        </p:nvCxnSpPr>
        <p:spPr bwMode="auto">
          <a:xfrm>
            <a:off x="5835106" y="1882337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直接箭头连接符 54"/>
          <p:cNvCxnSpPr/>
          <p:nvPr/>
        </p:nvCxnSpPr>
        <p:spPr bwMode="auto">
          <a:xfrm>
            <a:off x="7789072" y="2942234"/>
            <a:ext cx="0" cy="53786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86" name="TextBox 2085"/>
          <p:cNvSpPr txBox="1"/>
          <p:nvPr/>
        </p:nvSpPr>
        <p:spPr>
          <a:xfrm>
            <a:off x="2428860" y="1428736"/>
            <a:ext cx="1267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办理入住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TextBox 2085"/>
          <p:cNvSpPr txBox="1"/>
          <p:nvPr/>
        </p:nvSpPr>
        <p:spPr>
          <a:xfrm>
            <a:off x="1349461" y="2928934"/>
            <a:ext cx="79364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录入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TextBox 2085"/>
          <p:cNvSpPr txBox="1"/>
          <p:nvPr/>
        </p:nvSpPr>
        <p:spPr>
          <a:xfrm>
            <a:off x="2332936" y="5286388"/>
            <a:ext cx="76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开通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TextBox 2085"/>
          <p:cNvSpPr txBox="1"/>
          <p:nvPr/>
        </p:nvSpPr>
        <p:spPr>
          <a:xfrm>
            <a:off x="6019183" y="1500174"/>
            <a:ext cx="1267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开启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Box 2085"/>
          <p:cNvSpPr txBox="1"/>
          <p:nvPr/>
        </p:nvSpPr>
        <p:spPr>
          <a:xfrm>
            <a:off x="7854450" y="3013672"/>
            <a:ext cx="86095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入住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5" name="直接箭头连接符 44"/>
          <p:cNvCxnSpPr/>
          <p:nvPr/>
        </p:nvCxnSpPr>
        <p:spPr bwMode="auto">
          <a:xfrm>
            <a:off x="1216775" y="2928934"/>
            <a:ext cx="0" cy="48896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" name="直接箭头连接符 45"/>
          <p:cNvCxnSpPr/>
          <p:nvPr/>
        </p:nvCxnSpPr>
        <p:spPr bwMode="auto">
          <a:xfrm flipH="1">
            <a:off x="2298828" y="1876828"/>
            <a:ext cx="120160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7" name="组合 56"/>
          <p:cNvGrpSpPr/>
          <p:nvPr/>
        </p:nvGrpSpPr>
        <p:grpSpPr>
          <a:xfrm>
            <a:off x="627177" y="4857760"/>
            <a:ext cx="1193808" cy="1245006"/>
            <a:chOff x="814316" y="4357694"/>
            <a:chExt cx="2286016" cy="2286016"/>
          </a:xfrm>
        </p:grpSpPr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1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316" y="4357694"/>
              <a:ext cx="2286016" cy="2286016"/>
            </a:xfrm>
            <a:prstGeom prst="rect">
              <a:avLst/>
            </a:prstGeom>
          </p:spPr>
        </p:pic>
        <p:sp>
          <p:nvSpPr>
            <p:cNvPr id="59" name="文本框 58"/>
            <p:cNvSpPr txBox="1"/>
            <p:nvPr/>
          </p:nvSpPr>
          <p:spPr>
            <a:xfrm>
              <a:off x="1001495" y="5530918"/>
              <a:ext cx="2092336" cy="565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1" name="TextBox 26"/>
          <p:cNvSpPr txBox="1"/>
          <p:nvPr/>
        </p:nvSpPr>
        <p:spPr>
          <a:xfrm>
            <a:off x="413423" y="6016635"/>
            <a:ext cx="16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智能物联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云端管理系统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Box 2085"/>
          <p:cNvSpPr txBox="1"/>
          <p:nvPr/>
        </p:nvSpPr>
        <p:spPr>
          <a:xfrm>
            <a:off x="1358524" y="4572008"/>
            <a:ext cx="79364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传入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3" name="直接箭头连接符 62"/>
          <p:cNvCxnSpPr/>
          <p:nvPr/>
        </p:nvCxnSpPr>
        <p:spPr bwMode="auto">
          <a:xfrm>
            <a:off x="1216775" y="4572008"/>
            <a:ext cx="0" cy="3673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6" name="直接箭头连接符 65"/>
          <p:cNvCxnSpPr/>
          <p:nvPr/>
        </p:nvCxnSpPr>
        <p:spPr bwMode="auto">
          <a:xfrm flipV="1">
            <a:off x="2337194" y="6192340"/>
            <a:ext cx="690529" cy="196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直接连接符 34"/>
          <p:cNvCxnSpPr/>
          <p:nvPr/>
        </p:nvCxnSpPr>
        <p:spPr bwMode="auto">
          <a:xfrm>
            <a:off x="2332936" y="4560961"/>
            <a:ext cx="0" cy="1631379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829" y="3417899"/>
            <a:ext cx="1203464" cy="1203464"/>
          </a:xfrm>
          <a:prstGeom prst="rect">
            <a:avLst/>
          </a:prstGeom>
        </p:spPr>
      </p:pic>
      <p:sp>
        <p:nvSpPr>
          <p:cNvPr id="49" name="TextBox 31"/>
          <p:cNvSpPr txBox="1"/>
          <p:nvPr/>
        </p:nvSpPr>
        <p:spPr>
          <a:xfrm>
            <a:off x="7437378" y="2441004"/>
            <a:ext cx="1026493" cy="2964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智能门锁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0" name="图片-1.png"/>
          <p:cNvPicPr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298" y="1048525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847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69435" y="642918"/>
            <a:ext cx="4517143" cy="255631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j-ea"/>
                <a:sym typeface="Arial" charset="0"/>
              </a:rPr>
              <a:t>3</a:t>
            </a:r>
            <a:r>
              <a:rPr lang="zh-CN" altLang="en-US" sz="2800" b="1" dirty="0" smtClean="0">
                <a:latin typeface="+mj-ea"/>
                <a:sym typeface="Arial" charset="0"/>
              </a:rPr>
              <a:t>、租户换房更换</a:t>
            </a:r>
            <a:r>
              <a:rPr lang="zh-CN" altLang="en-US" sz="2800" b="1" dirty="0">
                <a:latin typeface="+mj-ea"/>
                <a:sym typeface="Arial" charset="0"/>
              </a:rPr>
              <a:t>电子</a:t>
            </a:r>
            <a:r>
              <a:rPr lang="zh-CN" altLang="en-US" sz="2800" b="1" dirty="0" smtClean="0">
                <a:latin typeface="+mj-ea"/>
                <a:sym typeface="Arial" charset="0"/>
              </a:rPr>
              <a:t>钥匙</a:t>
            </a:r>
            <a:endParaRPr lang="zh-CN" altLang="zh-CN" sz="2800" b="1" dirty="0" smtClean="0">
              <a:latin typeface="+mj-ea"/>
              <a:sym typeface="Arial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004794" y="1142984"/>
            <a:ext cx="1130940" cy="1327578"/>
            <a:chOff x="642910" y="1204602"/>
            <a:chExt cx="1143008" cy="138680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916896" y="225285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租户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50" name="组合 2049"/>
          <p:cNvGrpSpPr/>
          <p:nvPr/>
        </p:nvGrpSpPr>
        <p:grpSpPr>
          <a:xfrm>
            <a:off x="649554" y="1071546"/>
            <a:ext cx="1128870" cy="1478404"/>
            <a:chOff x="1376273" y="3071810"/>
            <a:chExt cx="1124024" cy="1529248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/>
            </p:nvPr>
          </p:nvGraphicFramePr>
          <p:xfrm>
            <a:off x="1376273" y="3071810"/>
            <a:ext cx="1124024" cy="11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9" r:id="rId5" imgW="2476190" imgH="2704762" progId="">
                    <p:embed/>
                  </p:oleObj>
                </mc:Choice>
                <mc:Fallback>
                  <p:oleObj r:id="rId5" imgW="2476190" imgH="270476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273" y="3071810"/>
                          <a:ext cx="1124024" cy="1128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1369" y="3730547"/>
              <a:ext cx="357599" cy="45247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658336" y="4239871"/>
              <a:ext cx="690524" cy="361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店长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778" y="5229829"/>
            <a:ext cx="788471" cy="840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544" y="5157978"/>
            <a:ext cx="902811" cy="1153591"/>
          </a:xfrm>
          <a:prstGeom prst="rect">
            <a:avLst/>
          </a:prstGeom>
        </p:spPr>
      </p:pic>
      <p:grpSp>
        <p:nvGrpSpPr>
          <p:cNvPr id="2051" name="组合 2050"/>
          <p:cNvGrpSpPr/>
          <p:nvPr/>
        </p:nvGrpSpPr>
        <p:grpSpPr>
          <a:xfrm>
            <a:off x="7143768" y="3214686"/>
            <a:ext cx="1357322" cy="1584980"/>
            <a:chOff x="1354124" y="5001259"/>
            <a:chExt cx="1272375" cy="1367142"/>
          </a:xfrm>
        </p:grpSpPr>
        <p:sp>
          <p:nvSpPr>
            <p:cNvPr id="9" name="TextBox 8"/>
            <p:cNvSpPr txBox="1"/>
            <p:nvPr/>
          </p:nvSpPr>
          <p:spPr>
            <a:xfrm>
              <a:off x="1674274" y="6029847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公寓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48" name="图片 2047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4124" y="5001259"/>
              <a:ext cx="1272375" cy="1140180"/>
            </a:xfrm>
            <a:prstGeom prst="rect">
              <a:avLst/>
            </a:prstGeom>
          </p:spPr>
        </p:pic>
      </p:grpSp>
      <p:sp>
        <p:nvSpPr>
          <p:cNvPr id="6" name="十字形 5"/>
          <p:cNvSpPr/>
          <p:nvPr/>
        </p:nvSpPr>
        <p:spPr bwMode="auto">
          <a:xfrm>
            <a:off x="4403215" y="5523039"/>
            <a:ext cx="417950" cy="405306"/>
          </a:xfrm>
          <a:prstGeom prst="plus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51" name="直接箭头连接符 50"/>
          <p:cNvCxnSpPr/>
          <p:nvPr/>
        </p:nvCxnSpPr>
        <p:spPr bwMode="auto">
          <a:xfrm flipV="1">
            <a:off x="4622800" y="2643182"/>
            <a:ext cx="0" cy="6275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直接箭头连接符 52"/>
          <p:cNvCxnSpPr/>
          <p:nvPr/>
        </p:nvCxnSpPr>
        <p:spPr bwMode="auto">
          <a:xfrm>
            <a:off x="5771958" y="1810899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86" name="TextBox 2085"/>
          <p:cNvSpPr txBox="1"/>
          <p:nvPr/>
        </p:nvSpPr>
        <p:spPr>
          <a:xfrm>
            <a:off x="2285984" y="1428736"/>
            <a:ext cx="12324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办理换房</a:t>
            </a:r>
            <a:endParaRPr lang="zh-CN" altLang="en-US" sz="15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TextBox 2085"/>
          <p:cNvSpPr txBox="1"/>
          <p:nvPr/>
        </p:nvSpPr>
        <p:spPr>
          <a:xfrm>
            <a:off x="2556512" y="3830239"/>
            <a:ext cx="7635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开通</a:t>
            </a:r>
            <a:endParaRPr lang="zh-CN" altLang="en-US" sz="15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TextBox 2085"/>
          <p:cNvSpPr txBox="1"/>
          <p:nvPr/>
        </p:nvSpPr>
        <p:spPr>
          <a:xfrm>
            <a:off x="5973635" y="1357298"/>
            <a:ext cx="126746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开启</a:t>
            </a:r>
            <a:endParaRPr lang="zh-CN" altLang="en-US" sz="15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Box 2085"/>
          <p:cNvSpPr txBox="1"/>
          <p:nvPr/>
        </p:nvSpPr>
        <p:spPr>
          <a:xfrm>
            <a:off x="7852088" y="2891521"/>
            <a:ext cx="860954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入住</a:t>
            </a:r>
            <a:endParaRPr lang="zh-CN" altLang="en-US" sz="15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309694" y="3698611"/>
            <a:ext cx="2619628" cy="1245558"/>
            <a:chOff x="5600281" y="3163072"/>
            <a:chExt cx="3247540" cy="1346224"/>
          </a:xfrm>
        </p:grpSpPr>
        <p:pic>
          <p:nvPicPr>
            <p:cNvPr id="48" name="Picture 9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3163072"/>
              <a:ext cx="977464" cy="908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9" name="TextBox 27"/>
            <p:cNvSpPr txBox="1"/>
            <p:nvPr/>
          </p:nvSpPr>
          <p:spPr>
            <a:xfrm>
              <a:off x="5600281" y="4143380"/>
              <a:ext cx="3247540" cy="365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新</a:t>
              </a:r>
              <a:r>
                <a:rPr lang="zh-CN" altLang="en-US" sz="16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房间</a:t>
              </a:r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门锁密码</a:t>
              </a:r>
              <a:r>
                <a:rPr lang="en-US" altLang="zh-CN" sz="1600" dirty="0" smtClean="0"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1600" dirty="0">
                  <a:latin typeface="微软雅黑" pitchFamily="34" charset="-122"/>
                  <a:ea typeface="微软雅黑" pitchFamily="34" charset="-122"/>
                </a:rPr>
                <a:t>电子</a:t>
              </a:r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门锁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951003" y="3626761"/>
            <a:ext cx="902811" cy="1292092"/>
            <a:chOff x="1200063" y="4998833"/>
            <a:chExt cx="902811" cy="1292092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0063" y="4998833"/>
              <a:ext cx="902811" cy="1153591"/>
            </a:xfrm>
            <a:prstGeom prst="rect">
              <a:avLst/>
            </a:prstGeom>
          </p:spPr>
        </p:pic>
        <p:sp>
          <p:nvSpPr>
            <p:cNvPr id="54" name="TextBox 30"/>
            <p:cNvSpPr txBox="1"/>
            <p:nvPr/>
          </p:nvSpPr>
          <p:spPr>
            <a:xfrm>
              <a:off x="1200063" y="5983148"/>
              <a:ext cx="1847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6" name="十字形 55"/>
          <p:cNvSpPr/>
          <p:nvPr/>
        </p:nvSpPr>
        <p:spPr bwMode="auto">
          <a:xfrm>
            <a:off x="4380674" y="3991822"/>
            <a:ext cx="417950" cy="405306"/>
          </a:xfrm>
          <a:prstGeom prst="plus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7" name="TextBox 27"/>
          <p:cNvSpPr txBox="1"/>
          <p:nvPr/>
        </p:nvSpPr>
        <p:spPr>
          <a:xfrm>
            <a:off x="3309694" y="6134759"/>
            <a:ext cx="2619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原房间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门锁密码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电子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门锁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肘形连接符 7"/>
          <p:cNvCxnSpPr/>
          <p:nvPr/>
        </p:nvCxnSpPr>
        <p:spPr bwMode="auto">
          <a:xfrm rot="10800000">
            <a:off x="2126560" y="5068091"/>
            <a:ext cx="1155151" cy="58219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肘形连接符 14"/>
          <p:cNvCxnSpPr/>
          <p:nvPr/>
        </p:nvCxnSpPr>
        <p:spPr bwMode="auto">
          <a:xfrm flipV="1">
            <a:off x="2126559" y="4232402"/>
            <a:ext cx="1158277" cy="54795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TextBox 2085"/>
          <p:cNvSpPr txBox="1"/>
          <p:nvPr/>
        </p:nvSpPr>
        <p:spPr>
          <a:xfrm>
            <a:off x="2556512" y="5695114"/>
            <a:ext cx="7635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收回</a:t>
            </a:r>
            <a:endParaRPr lang="zh-CN" altLang="en-US" sz="15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4" name="直接箭头连接符 63"/>
          <p:cNvCxnSpPr/>
          <p:nvPr/>
        </p:nvCxnSpPr>
        <p:spPr bwMode="auto">
          <a:xfrm>
            <a:off x="6215074" y="5740402"/>
            <a:ext cx="102037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8" name="矩形 37"/>
          <p:cNvSpPr/>
          <p:nvPr/>
        </p:nvSpPr>
        <p:spPr bwMode="auto">
          <a:xfrm>
            <a:off x="3281709" y="3571876"/>
            <a:ext cx="2828755" cy="1382707"/>
          </a:xfrm>
          <a:prstGeom prst="rect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3281709" y="5156639"/>
            <a:ext cx="2828755" cy="1382707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74" name="直接箭头连接符 73"/>
          <p:cNvCxnSpPr/>
          <p:nvPr/>
        </p:nvCxnSpPr>
        <p:spPr bwMode="auto">
          <a:xfrm>
            <a:off x="7804753" y="2838860"/>
            <a:ext cx="0" cy="37582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5" name="乘号 64"/>
          <p:cNvSpPr/>
          <p:nvPr/>
        </p:nvSpPr>
        <p:spPr bwMode="auto">
          <a:xfrm>
            <a:off x="6332060" y="5337174"/>
            <a:ext cx="811708" cy="799222"/>
          </a:xfrm>
          <a:prstGeom prst="mathMultiply">
            <a:avLst/>
          </a:prstGeom>
          <a:solidFill>
            <a:srgbClr val="E2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1" name="TextBox 2085"/>
          <p:cNvSpPr txBox="1"/>
          <p:nvPr/>
        </p:nvSpPr>
        <p:spPr>
          <a:xfrm>
            <a:off x="1349461" y="2643182"/>
            <a:ext cx="79364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录入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 bwMode="auto">
          <a:xfrm>
            <a:off x="1216775" y="2571744"/>
            <a:ext cx="0" cy="48896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83" name="组合 82"/>
          <p:cNvGrpSpPr/>
          <p:nvPr/>
        </p:nvGrpSpPr>
        <p:grpSpPr>
          <a:xfrm>
            <a:off x="627177" y="4429132"/>
            <a:ext cx="1193808" cy="1245006"/>
            <a:chOff x="814316" y="4357694"/>
            <a:chExt cx="2286016" cy="2286016"/>
          </a:xfrm>
        </p:grpSpPr>
        <p:pic>
          <p:nvPicPr>
            <p:cNvPr id="84" name="图片 83"/>
            <p:cNvPicPr>
              <a:picLocks noChangeAspect="1"/>
            </p:cNvPicPr>
            <p:nvPr/>
          </p:nvPicPr>
          <p:blipFill>
            <a:blip r:embed="rId11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316" y="4357694"/>
              <a:ext cx="2286016" cy="2286016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1001495" y="5530918"/>
              <a:ext cx="2092336" cy="565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6" name="TextBox 26"/>
          <p:cNvSpPr txBox="1"/>
          <p:nvPr/>
        </p:nvSpPr>
        <p:spPr>
          <a:xfrm>
            <a:off x="467906" y="5586382"/>
            <a:ext cx="16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智能物联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云端管理系统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TextBox 2085"/>
          <p:cNvSpPr txBox="1"/>
          <p:nvPr/>
        </p:nvSpPr>
        <p:spPr>
          <a:xfrm>
            <a:off x="1358524" y="4143380"/>
            <a:ext cx="79364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传入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8" name="直接箭头连接符 87"/>
          <p:cNvCxnSpPr/>
          <p:nvPr/>
        </p:nvCxnSpPr>
        <p:spPr bwMode="auto">
          <a:xfrm>
            <a:off x="1216775" y="4143380"/>
            <a:ext cx="0" cy="3673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0" name="直接箭头连接符 89"/>
          <p:cNvCxnSpPr/>
          <p:nvPr/>
        </p:nvCxnSpPr>
        <p:spPr bwMode="auto">
          <a:xfrm flipH="1">
            <a:off x="2298828" y="1805390"/>
            <a:ext cx="120160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55" name="图片 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913" y="3000092"/>
            <a:ext cx="1203464" cy="1203464"/>
          </a:xfrm>
          <a:prstGeom prst="rect">
            <a:avLst/>
          </a:prstGeom>
        </p:spPr>
      </p:pic>
      <p:sp>
        <p:nvSpPr>
          <p:cNvPr id="61" name="TextBox 31"/>
          <p:cNvSpPr txBox="1"/>
          <p:nvPr/>
        </p:nvSpPr>
        <p:spPr>
          <a:xfrm>
            <a:off x="7045346" y="2415687"/>
            <a:ext cx="1241430" cy="268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新房间智能门锁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2" name="图片-1.png"/>
          <p:cNvPicPr>
            <a:picLocks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394" y="954303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TextBox 31"/>
          <p:cNvSpPr txBox="1"/>
          <p:nvPr/>
        </p:nvSpPr>
        <p:spPr>
          <a:xfrm>
            <a:off x="7265614" y="6407543"/>
            <a:ext cx="1379977" cy="280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原房间智能门锁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9" name="图片-1.png"/>
          <p:cNvPicPr>
            <a:picLocks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179" y="4963002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951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272258" y="654446"/>
            <a:ext cx="3113131" cy="262178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j-ea"/>
                <a:sym typeface="Arial" charset="0"/>
              </a:rPr>
              <a:t>4</a:t>
            </a:r>
            <a:r>
              <a:rPr lang="zh-CN" altLang="en-US" sz="2800" b="1" dirty="0" smtClean="0">
                <a:latin typeface="+mj-ea"/>
                <a:sym typeface="Arial" charset="0"/>
              </a:rPr>
              <a:t>、租户续费</a:t>
            </a:r>
            <a:endParaRPr lang="zh-CN" altLang="zh-CN" sz="2800" b="1" dirty="0" smtClean="0">
              <a:latin typeface="+mj-ea"/>
              <a:sym typeface="Arial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210818" y="1213211"/>
            <a:ext cx="1281586" cy="1522864"/>
            <a:chOff x="642910" y="1204602"/>
            <a:chExt cx="1143008" cy="138680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916896" y="225285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租户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50" name="组合 2049"/>
          <p:cNvGrpSpPr/>
          <p:nvPr/>
        </p:nvGrpSpPr>
        <p:grpSpPr>
          <a:xfrm>
            <a:off x="318157" y="1214422"/>
            <a:ext cx="1279240" cy="1695876"/>
            <a:chOff x="1376273" y="3071810"/>
            <a:chExt cx="1124024" cy="1529248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/>
            </p:nvPr>
          </p:nvGraphicFramePr>
          <p:xfrm>
            <a:off x="1376273" y="3071810"/>
            <a:ext cx="1124024" cy="11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3" r:id="rId5" imgW="2476190" imgH="2704762" progId="">
                    <p:embed/>
                  </p:oleObj>
                </mc:Choice>
                <mc:Fallback>
                  <p:oleObj r:id="rId5" imgW="2476190" imgH="270476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273" y="3071810"/>
                          <a:ext cx="1124024" cy="1128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1369" y="3730547"/>
              <a:ext cx="357599" cy="45247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658336" y="4239871"/>
              <a:ext cx="690524" cy="361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店长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286116" y="4433860"/>
            <a:ext cx="1138234" cy="1781222"/>
            <a:chOff x="5715008" y="2988198"/>
            <a:chExt cx="1005403" cy="1422601"/>
          </a:xfrm>
        </p:grpSpPr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2988198"/>
              <a:ext cx="977464" cy="908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5715008" y="40722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门锁密码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49" name="组合 2048"/>
          <p:cNvGrpSpPr/>
          <p:nvPr/>
        </p:nvGrpSpPr>
        <p:grpSpPr>
          <a:xfrm>
            <a:off x="5214944" y="4290985"/>
            <a:ext cx="1285884" cy="1866234"/>
            <a:chOff x="1178589" y="4957335"/>
            <a:chExt cx="814671" cy="1215409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589" y="4957335"/>
              <a:ext cx="814671" cy="115359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265767" y="5952256"/>
              <a:ext cx="636973" cy="220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电子门锁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51" name="组合 2050"/>
          <p:cNvGrpSpPr/>
          <p:nvPr/>
        </p:nvGrpSpPr>
        <p:grpSpPr>
          <a:xfrm>
            <a:off x="7143768" y="3956032"/>
            <a:ext cx="1714512" cy="1917115"/>
            <a:chOff x="1354124" y="5001259"/>
            <a:chExt cx="1272375" cy="1367142"/>
          </a:xfrm>
        </p:grpSpPr>
        <p:sp>
          <p:nvSpPr>
            <p:cNvPr id="9" name="TextBox 8"/>
            <p:cNvSpPr txBox="1"/>
            <p:nvPr/>
          </p:nvSpPr>
          <p:spPr>
            <a:xfrm>
              <a:off x="1674274" y="6029847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公寓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48" name="图片 2047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4124" y="5001259"/>
              <a:ext cx="1272375" cy="1140180"/>
            </a:xfrm>
            <a:prstGeom prst="rect">
              <a:avLst/>
            </a:prstGeom>
          </p:spPr>
        </p:pic>
      </p:grpSp>
      <p:sp>
        <p:nvSpPr>
          <p:cNvPr id="6" name="十字形 5"/>
          <p:cNvSpPr/>
          <p:nvPr/>
        </p:nvSpPr>
        <p:spPr bwMode="auto">
          <a:xfrm>
            <a:off x="4643438" y="5028686"/>
            <a:ext cx="417950" cy="405306"/>
          </a:xfrm>
          <a:prstGeom prst="plus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51" name="直接箭头连接符 50"/>
          <p:cNvCxnSpPr/>
          <p:nvPr/>
        </p:nvCxnSpPr>
        <p:spPr bwMode="auto">
          <a:xfrm flipH="1" flipV="1">
            <a:off x="4828824" y="2928249"/>
            <a:ext cx="9248" cy="88967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直接箭头连接符 52"/>
          <p:cNvCxnSpPr/>
          <p:nvPr/>
        </p:nvCxnSpPr>
        <p:spPr bwMode="auto">
          <a:xfrm>
            <a:off x="5977982" y="2081267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直接箭头连接符 54"/>
          <p:cNvCxnSpPr/>
          <p:nvPr/>
        </p:nvCxnSpPr>
        <p:spPr bwMode="auto">
          <a:xfrm>
            <a:off x="7858148" y="3072424"/>
            <a:ext cx="0" cy="86623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TextBox 2085"/>
          <p:cNvSpPr txBox="1"/>
          <p:nvPr/>
        </p:nvSpPr>
        <p:spPr>
          <a:xfrm>
            <a:off x="1785918" y="4926037"/>
            <a:ext cx="14287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延长</a:t>
            </a:r>
            <a:r>
              <a:rPr lang="zh-CN" altLang="en-US" sz="15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有效期</a:t>
            </a:r>
          </a:p>
        </p:txBody>
      </p:sp>
      <p:sp>
        <p:nvSpPr>
          <p:cNvPr id="43" name="TextBox 2085"/>
          <p:cNvSpPr txBox="1"/>
          <p:nvPr/>
        </p:nvSpPr>
        <p:spPr>
          <a:xfrm>
            <a:off x="6090621" y="1627666"/>
            <a:ext cx="126746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开启</a:t>
            </a:r>
            <a:endParaRPr lang="zh-CN" altLang="en-US" sz="15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Box 2085"/>
          <p:cNvSpPr txBox="1"/>
          <p:nvPr/>
        </p:nvSpPr>
        <p:spPr>
          <a:xfrm>
            <a:off x="7923526" y="3196615"/>
            <a:ext cx="860954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入住</a:t>
            </a:r>
            <a:endParaRPr lang="zh-CN" altLang="en-US" sz="15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7" name="直接箭头连接符 46"/>
          <p:cNvCxnSpPr/>
          <p:nvPr/>
        </p:nvCxnSpPr>
        <p:spPr bwMode="auto">
          <a:xfrm>
            <a:off x="2827770" y="1921413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TextBox 2085"/>
          <p:cNvSpPr txBox="1"/>
          <p:nvPr/>
        </p:nvSpPr>
        <p:spPr>
          <a:xfrm>
            <a:off x="2850896" y="1581201"/>
            <a:ext cx="126746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通知续缴</a:t>
            </a:r>
            <a:endParaRPr lang="zh-CN" altLang="en-US" sz="15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9" name="直接箭头连接符 48"/>
          <p:cNvCxnSpPr/>
          <p:nvPr/>
        </p:nvCxnSpPr>
        <p:spPr bwMode="auto">
          <a:xfrm flipH="1">
            <a:off x="2804473" y="2081267"/>
            <a:ext cx="109337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TextBox 2085"/>
          <p:cNvSpPr txBox="1"/>
          <p:nvPr/>
        </p:nvSpPr>
        <p:spPr>
          <a:xfrm>
            <a:off x="2875911" y="2108557"/>
            <a:ext cx="126746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缴费</a:t>
            </a:r>
            <a:endParaRPr lang="zh-CN" altLang="en-US" sz="15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矩形 56"/>
          <p:cNvSpPr/>
          <p:nvPr/>
        </p:nvSpPr>
        <p:spPr bwMode="auto">
          <a:xfrm>
            <a:off x="3162117" y="4224407"/>
            <a:ext cx="3410147" cy="1963122"/>
          </a:xfrm>
          <a:prstGeom prst="rect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64" name="直接箭头连接符 63"/>
          <p:cNvCxnSpPr/>
          <p:nvPr/>
        </p:nvCxnSpPr>
        <p:spPr bwMode="auto">
          <a:xfrm>
            <a:off x="2025491" y="5357826"/>
            <a:ext cx="90442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7" name="TextBox 2085"/>
          <p:cNvSpPr txBox="1"/>
          <p:nvPr/>
        </p:nvSpPr>
        <p:spPr>
          <a:xfrm>
            <a:off x="1349461" y="2867085"/>
            <a:ext cx="79364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录入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8" name="直接箭头连接符 77"/>
          <p:cNvCxnSpPr/>
          <p:nvPr/>
        </p:nvCxnSpPr>
        <p:spPr bwMode="auto">
          <a:xfrm>
            <a:off x="1216775" y="2795647"/>
            <a:ext cx="0" cy="48896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79" name="组合 78"/>
          <p:cNvGrpSpPr/>
          <p:nvPr/>
        </p:nvGrpSpPr>
        <p:grpSpPr>
          <a:xfrm>
            <a:off x="627177" y="4653035"/>
            <a:ext cx="1193808" cy="1245006"/>
            <a:chOff x="814316" y="4357694"/>
            <a:chExt cx="2286016" cy="2286016"/>
          </a:xfrm>
        </p:grpSpPr>
        <p:pic>
          <p:nvPicPr>
            <p:cNvPr id="80" name="图片 79"/>
            <p:cNvPicPr>
              <a:picLocks noChangeAspect="1"/>
            </p:cNvPicPr>
            <p:nvPr/>
          </p:nvPicPr>
          <p:blipFill>
            <a:blip r:embed="rId11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316" y="4357694"/>
              <a:ext cx="2286016" cy="2286016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1001495" y="5530918"/>
              <a:ext cx="2092336" cy="565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2" name="TextBox 26"/>
          <p:cNvSpPr txBox="1"/>
          <p:nvPr/>
        </p:nvSpPr>
        <p:spPr>
          <a:xfrm>
            <a:off x="340951" y="5785566"/>
            <a:ext cx="16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智能物联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云端管理系统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TextBox 2085"/>
          <p:cNvSpPr txBox="1"/>
          <p:nvPr/>
        </p:nvSpPr>
        <p:spPr>
          <a:xfrm>
            <a:off x="1358524" y="4367283"/>
            <a:ext cx="79364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传入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4" name="直接箭头连接符 83"/>
          <p:cNvCxnSpPr/>
          <p:nvPr/>
        </p:nvCxnSpPr>
        <p:spPr bwMode="auto">
          <a:xfrm>
            <a:off x="1216775" y="4367283"/>
            <a:ext cx="0" cy="3673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45" name="图片 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689" y="3216192"/>
            <a:ext cx="1203464" cy="1203464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1469873" y="1366524"/>
            <a:ext cx="1898449" cy="1417139"/>
            <a:chOff x="2808324" y="3201389"/>
            <a:chExt cx="2157564" cy="1444137"/>
          </a:xfrm>
        </p:grpSpPr>
        <p:pic>
          <p:nvPicPr>
            <p:cNvPr id="52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3078" y="3201389"/>
              <a:ext cx="1085201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26"/>
            <p:cNvSpPr txBox="1"/>
            <p:nvPr/>
          </p:nvSpPr>
          <p:spPr>
            <a:xfrm>
              <a:off x="2808324" y="4331886"/>
              <a:ext cx="2157564" cy="313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领地智慧社区平台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6" name="TextBox 31"/>
          <p:cNvSpPr txBox="1"/>
          <p:nvPr/>
        </p:nvSpPr>
        <p:spPr>
          <a:xfrm>
            <a:off x="7423667" y="2502422"/>
            <a:ext cx="1154714" cy="351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智能门锁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8" name="图片-1.png"/>
          <p:cNvPicPr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270" y="1159272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102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956893" y="642918"/>
            <a:ext cx="3261640" cy="230663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j-ea"/>
                <a:sym typeface="Arial" charset="0"/>
              </a:rPr>
              <a:t>5</a:t>
            </a:r>
            <a:r>
              <a:rPr lang="zh-CN" altLang="en-US" sz="2800" b="1" dirty="0" smtClean="0">
                <a:latin typeface="+mj-ea"/>
                <a:sym typeface="Arial" charset="0"/>
              </a:rPr>
              <a:t>、租户未及时续费</a:t>
            </a:r>
            <a:endParaRPr lang="zh-CN" altLang="zh-CN" sz="2800" b="1" dirty="0" smtClean="0">
              <a:latin typeface="+mj-ea"/>
              <a:sym typeface="Arial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214810" y="1142984"/>
            <a:ext cx="1210611" cy="1466787"/>
            <a:chOff x="642910" y="1204602"/>
            <a:chExt cx="1143008" cy="138680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916896" y="225285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租户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50" name="组合 2049"/>
          <p:cNvGrpSpPr/>
          <p:nvPr/>
        </p:nvGrpSpPr>
        <p:grpSpPr>
          <a:xfrm>
            <a:off x="220333" y="1167815"/>
            <a:ext cx="1208395" cy="1633428"/>
            <a:chOff x="1376273" y="3071810"/>
            <a:chExt cx="1124024" cy="1529248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/>
            </p:nvPr>
          </p:nvGraphicFramePr>
          <p:xfrm>
            <a:off x="1376273" y="3071810"/>
            <a:ext cx="1124024" cy="11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5" r:id="rId5" imgW="2476190" imgH="2704762" progId="">
                    <p:embed/>
                  </p:oleObj>
                </mc:Choice>
                <mc:Fallback>
                  <p:oleObj r:id="rId5" imgW="2476190" imgH="270476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273" y="3071810"/>
                          <a:ext cx="1124024" cy="1128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1369" y="3730547"/>
              <a:ext cx="357599" cy="45247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658336" y="4239871"/>
              <a:ext cx="690524" cy="361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店长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286116" y="4505298"/>
            <a:ext cx="1138234" cy="1781222"/>
            <a:chOff x="5715008" y="2988198"/>
            <a:chExt cx="1005403" cy="1422601"/>
          </a:xfrm>
        </p:grpSpPr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2988198"/>
              <a:ext cx="977464" cy="908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5715008" y="40722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门锁密码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49" name="组合 2048"/>
          <p:cNvGrpSpPr/>
          <p:nvPr/>
        </p:nvGrpSpPr>
        <p:grpSpPr>
          <a:xfrm>
            <a:off x="5214944" y="4362423"/>
            <a:ext cx="1285884" cy="1866234"/>
            <a:chOff x="1178589" y="4957335"/>
            <a:chExt cx="814671" cy="1215409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589" y="4957335"/>
              <a:ext cx="814671" cy="115359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265767" y="5952256"/>
              <a:ext cx="636973" cy="220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电子门锁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51" name="组合 2050"/>
          <p:cNvGrpSpPr/>
          <p:nvPr/>
        </p:nvGrpSpPr>
        <p:grpSpPr>
          <a:xfrm>
            <a:off x="7072330" y="4089319"/>
            <a:ext cx="1714512" cy="1917115"/>
            <a:chOff x="1354124" y="5001259"/>
            <a:chExt cx="1272375" cy="1367142"/>
          </a:xfrm>
        </p:grpSpPr>
        <p:sp>
          <p:nvSpPr>
            <p:cNvPr id="9" name="TextBox 8"/>
            <p:cNvSpPr txBox="1"/>
            <p:nvPr/>
          </p:nvSpPr>
          <p:spPr>
            <a:xfrm>
              <a:off x="1674274" y="6029847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公寓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48" name="图片 2047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4124" y="5001259"/>
              <a:ext cx="1272375" cy="1140180"/>
            </a:xfrm>
            <a:prstGeom prst="rect">
              <a:avLst/>
            </a:prstGeom>
          </p:spPr>
        </p:pic>
      </p:grpSp>
      <p:sp>
        <p:nvSpPr>
          <p:cNvPr id="6" name="十字形 5"/>
          <p:cNvSpPr/>
          <p:nvPr/>
        </p:nvSpPr>
        <p:spPr bwMode="auto">
          <a:xfrm>
            <a:off x="4643438" y="5100124"/>
            <a:ext cx="417950" cy="405306"/>
          </a:xfrm>
          <a:prstGeom prst="plus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51" name="直接箭头连接符 50"/>
          <p:cNvCxnSpPr/>
          <p:nvPr/>
        </p:nvCxnSpPr>
        <p:spPr bwMode="auto">
          <a:xfrm flipH="1" flipV="1">
            <a:off x="4828824" y="2994607"/>
            <a:ext cx="9248" cy="88967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直接箭头连接符 52"/>
          <p:cNvCxnSpPr/>
          <p:nvPr/>
        </p:nvCxnSpPr>
        <p:spPr bwMode="auto">
          <a:xfrm>
            <a:off x="6074729" y="2077873"/>
            <a:ext cx="103374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直接箭头连接符 54"/>
          <p:cNvCxnSpPr/>
          <p:nvPr/>
        </p:nvCxnSpPr>
        <p:spPr bwMode="auto">
          <a:xfrm>
            <a:off x="7858148" y="3205711"/>
            <a:ext cx="0" cy="86623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TextBox 2085"/>
          <p:cNvSpPr txBox="1"/>
          <p:nvPr/>
        </p:nvSpPr>
        <p:spPr>
          <a:xfrm>
            <a:off x="1232809" y="2820083"/>
            <a:ext cx="1410365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500" dirty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逾期</a:t>
            </a:r>
            <a:r>
              <a:rPr lang="zh-CN" altLang="en-US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未录入</a:t>
            </a:r>
            <a:endParaRPr lang="zh-CN" altLang="en-US" sz="15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TextBox 2085"/>
          <p:cNvSpPr txBox="1"/>
          <p:nvPr/>
        </p:nvSpPr>
        <p:spPr>
          <a:xfrm>
            <a:off x="2065140" y="4963223"/>
            <a:ext cx="14287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收回</a:t>
            </a:r>
            <a:endParaRPr lang="zh-CN" altLang="en-US" sz="15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TextBox 2085"/>
          <p:cNvSpPr txBox="1"/>
          <p:nvPr/>
        </p:nvSpPr>
        <p:spPr>
          <a:xfrm>
            <a:off x="6026069" y="1468956"/>
            <a:ext cx="11972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无法开启</a:t>
            </a:r>
            <a:endParaRPr lang="zh-CN" altLang="en-US" sz="15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7" name="直接箭头连接符 46"/>
          <p:cNvCxnSpPr/>
          <p:nvPr/>
        </p:nvCxnSpPr>
        <p:spPr bwMode="auto">
          <a:xfrm>
            <a:off x="2897963" y="1918019"/>
            <a:ext cx="103374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TextBox 2085"/>
          <p:cNvSpPr txBox="1"/>
          <p:nvPr/>
        </p:nvSpPr>
        <p:spPr>
          <a:xfrm>
            <a:off x="2921089" y="1577807"/>
            <a:ext cx="11972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通知续缴</a:t>
            </a:r>
            <a:endParaRPr lang="zh-CN" altLang="en-US" sz="15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9" name="直接箭头连接符 48"/>
          <p:cNvCxnSpPr/>
          <p:nvPr/>
        </p:nvCxnSpPr>
        <p:spPr bwMode="auto">
          <a:xfrm flipH="1">
            <a:off x="2849357" y="2138485"/>
            <a:ext cx="1056606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TextBox 2085"/>
          <p:cNvSpPr txBox="1"/>
          <p:nvPr/>
        </p:nvSpPr>
        <p:spPr>
          <a:xfrm>
            <a:off x="2946104" y="2165775"/>
            <a:ext cx="11972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未缴费</a:t>
            </a:r>
            <a:endParaRPr lang="zh-CN" altLang="en-US" sz="15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矩形 56"/>
          <p:cNvSpPr/>
          <p:nvPr/>
        </p:nvSpPr>
        <p:spPr bwMode="auto">
          <a:xfrm>
            <a:off x="3162117" y="4295845"/>
            <a:ext cx="3410147" cy="1963122"/>
          </a:xfrm>
          <a:prstGeom prst="rect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64" name="直接箭头连接符 63"/>
          <p:cNvCxnSpPr/>
          <p:nvPr/>
        </p:nvCxnSpPr>
        <p:spPr bwMode="auto">
          <a:xfrm>
            <a:off x="2025491" y="5429264"/>
            <a:ext cx="90442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0" name="乘号 39"/>
          <p:cNvSpPr/>
          <p:nvPr/>
        </p:nvSpPr>
        <p:spPr bwMode="auto">
          <a:xfrm>
            <a:off x="6216049" y="1675197"/>
            <a:ext cx="766755" cy="769792"/>
          </a:xfrm>
          <a:prstGeom prst="mathMultiply">
            <a:avLst/>
          </a:prstGeom>
          <a:solidFill>
            <a:srgbClr val="E2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6" name="乘号 45"/>
          <p:cNvSpPr/>
          <p:nvPr/>
        </p:nvSpPr>
        <p:spPr bwMode="auto">
          <a:xfrm>
            <a:off x="7452294" y="3201282"/>
            <a:ext cx="811708" cy="799222"/>
          </a:xfrm>
          <a:prstGeom prst="mathMultiply">
            <a:avLst/>
          </a:prstGeom>
          <a:solidFill>
            <a:srgbClr val="E2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27177" y="4714884"/>
            <a:ext cx="1193808" cy="1245006"/>
            <a:chOff x="814316" y="4357694"/>
            <a:chExt cx="2286016" cy="2286016"/>
          </a:xfrm>
        </p:grpSpPr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11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316" y="4357694"/>
              <a:ext cx="2286016" cy="2286016"/>
            </a:xfrm>
            <a:prstGeom prst="rect">
              <a:avLst/>
            </a:prstGeom>
          </p:spPr>
        </p:pic>
        <p:sp>
          <p:nvSpPr>
            <p:cNvPr id="58" name="文本框 57"/>
            <p:cNvSpPr txBox="1"/>
            <p:nvPr/>
          </p:nvSpPr>
          <p:spPr>
            <a:xfrm>
              <a:off x="1001495" y="5530918"/>
              <a:ext cx="2092336" cy="565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TextBox 26"/>
          <p:cNvSpPr txBox="1"/>
          <p:nvPr/>
        </p:nvSpPr>
        <p:spPr>
          <a:xfrm>
            <a:off x="410329" y="5899095"/>
            <a:ext cx="16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智能物联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云端管理系统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TextBox 2085"/>
          <p:cNvSpPr txBox="1"/>
          <p:nvPr/>
        </p:nvSpPr>
        <p:spPr>
          <a:xfrm>
            <a:off x="1358524" y="4367283"/>
            <a:ext cx="1303527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逾期未传入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1" name="直接箭头连接符 60"/>
          <p:cNvCxnSpPr/>
          <p:nvPr/>
        </p:nvCxnSpPr>
        <p:spPr bwMode="auto">
          <a:xfrm>
            <a:off x="1216775" y="4357694"/>
            <a:ext cx="0" cy="4041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2" name="直接箭头连接符 61"/>
          <p:cNvCxnSpPr/>
          <p:nvPr/>
        </p:nvCxnSpPr>
        <p:spPr bwMode="auto">
          <a:xfrm>
            <a:off x="1201714" y="2810582"/>
            <a:ext cx="0" cy="4041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45" name="图片 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234" y="3229168"/>
            <a:ext cx="1203464" cy="1203464"/>
          </a:xfrm>
          <a:prstGeom prst="rect">
            <a:avLst/>
          </a:prstGeom>
        </p:spPr>
      </p:pic>
      <p:grpSp>
        <p:nvGrpSpPr>
          <p:cNvPr id="63" name="组合 62"/>
          <p:cNvGrpSpPr/>
          <p:nvPr/>
        </p:nvGrpSpPr>
        <p:grpSpPr>
          <a:xfrm>
            <a:off x="1387667" y="1350260"/>
            <a:ext cx="1898449" cy="1417139"/>
            <a:chOff x="2808324" y="3201389"/>
            <a:chExt cx="2157564" cy="1444137"/>
          </a:xfrm>
        </p:grpSpPr>
        <p:pic>
          <p:nvPicPr>
            <p:cNvPr id="65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3078" y="3201389"/>
              <a:ext cx="1085201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6" name="TextBox 26"/>
            <p:cNvSpPr txBox="1"/>
            <p:nvPr/>
          </p:nvSpPr>
          <p:spPr>
            <a:xfrm>
              <a:off x="2808324" y="4331886"/>
              <a:ext cx="2157564" cy="313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领地智慧社区平台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2" name="TextBox 31"/>
          <p:cNvSpPr txBox="1"/>
          <p:nvPr/>
        </p:nvSpPr>
        <p:spPr>
          <a:xfrm>
            <a:off x="7359247" y="2647550"/>
            <a:ext cx="1090766" cy="338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智能门锁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7" name="图片-1.png"/>
          <p:cNvPicPr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98" y="1187517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81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500430" y="642918"/>
            <a:ext cx="2286016" cy="357190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n-ea"/>
                <a:ea typeface="+mn-ea"/>
                <a:sym typeface="Arial" charset="0"/>
              </a:rPr>
              <a:t>7</a:t>
            </a:r>
            <a:r>
              <a:rPr lang="zh-CN" altLang="en-US" sz="2800" b="1" dirty="0" smtClean="0">
                <a:latin typeface="+mn-ea"/>
                <a:ea typeface="+mn-ea"/>
                <a:sym typeface="Arial" charset="0"/>
              </a:rPr>
              <a:t>、租户退房</a:t>
            </a:r>
            <a:endParaRPr lang="zh-CN" altLang="zh-CN" sz="2800" b="1" dirty="0" smtClean="0">
              <a:latin typeface="+mn-ea"/>
              <a:ea typeface="+mn-ea"/>
              <a:sym typeface="Arial" charset="0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4071934" y="1209817"/>
            <a:ext cx="1281586" cy="1522864"/>
            <a:chOff x="642910" y="1204602"/>
            <a:chExt cx="1143008" cy="1386802"/>
          </a:xfrm>
        </p:grpSpPr>
        <p:pic>
          <p:nvPicPr>
            <p:cNvPr id="103" name="图片 10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104" name="TextBox 2"/>
            <p:cNvSpPr txBox="1"/>
            <p:nvPr/>
          </p:nvSpPr>
          <p:spPr>
            <a:xfrm>
              <a:off x="916896" y="2252850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租户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3286115" y="4576736"/>
            <a:ext cx="1176334" cy="1781222"/>
            <a:chOff x="5715008" y="2988198"/>
            <a:chExt cx="1039057" cy="1422601"/>
          </a:xfrm>
        </p:grpSpPr>
        <p:pic>
          <p:nvPicPr>
            <p:cNvPr id="113" name="Picture 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2988198"/>
              <a:ext cx="977464" cy="908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4" name="TextBox 27"/>
            <p:cNvSpPr txBox="1"/>
            <p:nvPr/>
          </p:nvSpPr>
          <p:spPr>
            <a:xfrm>
              <a:off x="5748662" y="4072245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门锁密码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5214944" y="4433861"/>
            <a:ext cx="1285884" cy="1866234"/>
            <a:chOff x="1178589" y="4957335"/>
            <a:chExt cx="814671" cy="1215409"/>
          </a:xfrm>
        </p:grpSpPr>
        <p:pic>
          <p:nvPicPr>
            <p:cNvPr id="116" name="图片 11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589" y="4957335"/>
              <a:ext cx="814671" cy="1153591"/>
            </a:xfrm>
            <a:prstGeom prst="rect">
              <a:avLst/>
            </a:prstGeom>
          </p:spPr>
        </p:pic>
        <p:sp>
          <p:nvSpPr>
            <p:cNvPr id="117" name="TextBox 30"/>
            <p:cNvSpPr txBox="1"/>
            <p:nvPr/>
          </p:nvSpPr>
          <p:spPr>
            <a:xfrm>
              <a:off x="1265767" y="5952256"/>
              <a:ext cx="636973" cy="220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电子门锁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7072330" y="4297967"/>
            <a:ext cx="1714512" cy="1917115"/>
            <a:chOff x="1354124" y="5001259"/>
            <a:chExt cx="1272375" cy="1367142"/>
          </a:xfrm>
        </p:grpSpPr>
        <p:sp>
          <p:nvSpPr>
            <p:cNvPr id="122" name="TextBox 8"/>
            <p:cNvSpPr txBox="1"/>
            <p:nvPr/>
          </p:nvSpPr>
          <p:spPr>
            <a:xfrm>
              <a:off x="1674274" y="6029847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公寓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23" name="图片 12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4124" y="5001259"/>
              <a:ext cx="1272375" cy="1140180"/>
            </a:xfrm>
            <a:prstGeom prst="rect">
              <a:avLst/>
            </a:prstGeom>
          </p:spPr>
        </p:pic>
      </p:grpSp>
      <p:sp>
        <p:nvSpPr>
          <p:cNvPr id="124" name="十字形 123"/>
          <p:cNvSpPr/>
          <p:nvPr/>
        </p:nvSpPr>
        <p:spPr bwMode="auto">
          <a:xfrm>
            <a:off x="4643438" y="5171562"/>
            <a:ext cx="417950" cy="405306"/>
          </a:xfrm>
          <a:prstGeom prst="plus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25" name="直接箭头连接符 124"/>
          <p:cNvCxnSpPr/>
          <p:nvPr/>
        </p:nvCxnSpPr>
        <p:spPr bwMode="auto">
          <a:xfrm flipH="1" flipV="1">
            <a:off x="4705628" y="3193798"/>
            <a:ext cx="9248" cy="73526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6" name="直接箭头连接符 125"/>
          <p:cNvCxnSpPr/>
          <p:nvPr/>
        </p:nvCxnSpPr>
        <p:spPr bwMode="auto">
          <a:xfrm>
            <a:off x="5977982" y="2077873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7" name="直接箭头连接符 126"/>
          <p:cNvCxnSpPr/>
          <p:nvPr/>
        </p:nvCxnSpPr>
        <p:spPr bwMode="auto">
          <a:xfrm>
            <a:off x="7858148" y="3205711"/>
            <a:ext cx="0" cy="86623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9" name="TextBox 2085"/>
          <p:cNvSpPr txBox="1"/>
          <p:nvPr/>
        </p:nvSpPr>
        <p:spPr>
          <a:xfrm>
            <a:off x="2065140" y="4997406"/>
            <a:ext cx="14287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50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 smtClean="0"/>
              <a:t>4.</a:t>
            </a:r>
            <a:r>
              <a:rPr lang="zh-CN" altLang="en-US" dirty="0"/>
              <a:t>收回</a:t>
            </a:r>
          </a:p>
        </p:txBody>
      </p:sp>
      <p:sp>
        <p:nvSpPr>
          <p:cNvPr id="130" name="TextBox 2085"/>
          <p:cNvSpPr txBox="1"/>
          <p:nvPr/>
        </p:nvSpPr>
        <p:spPr>
          <a:xfrm>
            <a:off x="5929322" y="1468956"/>
            <a:ext cx="126746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15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无法开启</a:t>
            </a:r>
            <a:endParaRPr lang="zh-CN" altLang="en-US" sz="15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" name="TextBox 2085"/>
          <p:cNvSpPr txBox="1"/>
          <p:nvPr/>
        </p:nvSpPr>
        <p:spPr>
          <a:xfrm>
            <a:off x="2357422" y="1714488"/>
            <a:ext cx="126746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5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办理退房</a:t>
            </a:r>
            <a:endParaRPr lang="zh-CN" altLang="en-US" sz="15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6" name="矩形 135"/>
          <p:cNvSpPr/>
          <p:nvPr/>
        </p:nvSpPr>
        <p:spPr bwMode="auto">
          <a:xfrm>
            <a:off x="3162117" y="4367283"/>
            <a:ext cx="3410147" cy="196312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37" name="直接箭头连接符 136"/>
          <p:cNvCxnSpPr/>
          <p:nvPr/>
        </p:nvCxnSpPr>
        <p:spPr bwMode="auto">
          <a:xfrm>
            <a:off x="2025491" y="5429264"/>
            <a:ext cx="90442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8" name="乘号 137"/>
          <p:cNvSpPr/>
          <p:nvPr/>
        </p:nvSpPr>
        <p:spPr bwMode="auto">
          <a:xfrm>
            <a:off x="6119302" y="1675197"/>
            <a:ext cx="811708" cy="799222"/>
          </a:xfrm>
          <a:prstGeom prst="mathMultiply">
            <a:avLst/>
          </a:prstGeom>
          <a:solidFill>
            <a:srgbClr val="E2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9" name="乘号 138"/>
          <p:cNvSpPr/>
          <p:nvPr/>
        </p:nvSpPr>
        <p:spPr bwMode="auto">
          <a:xfrm>
            <a:off x="7452294" y="3201282"/>
            <a:ext cx="811708" cy="799222"/>
          </a:xfrm>
          <a:prstGeom prst="mathMultiply">
            <a:avLst/>
          </a:prstGeom>
          <a:solidFill>
            <a:srgbClr val="E2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40" name="直接箭头连接符 139"/>
          <p:cNvCxnSpPr/>
          <p:nvPr/>
        </p:nvCxnSpPr>
        <p:spPr bwMode="auto">
          <a:xfrm flipH="1">
            <a:off x="2298828" y="2078442"/>
            <a:ext cx="120160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41" name="组合 140"/>
          <p:cNvGrpSpPr/>
          <p:nvPr/>
        </p:nvGrpSpPr>
        <p:grpSpPr>
          <a:xfrm>
            <a:off x="602832" y="1167815"/>
            <a:ext cx="1208395" cy="1633428"/>
            <a:chOff x="1376273" y="3071810"/>
            <a:chExt cx="1124024" cy="1529248"/>
          </a:xfrm>
        </p:grpSpPr>
        <p:graphicFrame>
          <p:nvGraphicFramePr>
            <p:cNvPr id="142" name="对象 141"/>
            <p:cNvGraphicFramePr>
              <a:graphicFrameLocks noChangeAspect="1"/>
            </p:cNvGraphicFramePr>
            <p:nvPr>
              <p:extLst/>
            </p:nvPr>
          </p:nvGraphicFramePr>
          <p:xfrm>
            <a:off x="1376273" y="3071810"/>
            <a:ext cx="1124024" cy="11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9" r:id="rId8" imgW="2476190" imgH="2704762" progId="">
                    <p:embed/>
                  </p:oleObj>
                </mc:Choice>
                <mc:Fallback>
                  <p:oleObj r:id="rId8" imgW="2476190" imgH="270476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273" y="3071810"/>
                          <a:ext cx="1124024" cy="1128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43" name="图片 142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1369" y="3730547"/>
              <a:ext cx="357599" cy="452473"/>
            </a:xfrm>
            <a:prstGeom prst="rect">
              <a:avLst/>
            </a:prstGeom>
          </p:spPr>
        </p:pic>
        <p:sp>
          <p:nvSpPr>
            <p:cNvPr id="144" name="TextBox 11"/>
            <p:cNvSpPr txBox="1"/>
            <p:nvPr/>
          </p:nvSpPr>
          <p:spPr>
            <a:xfrm>
              <a:off x="1658336" y="4239871"/>
              <a:ext cx="690524" cy="361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店长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45" name="TextBox 2085"/>
          <p:cNvSpPr txBox="1"/>
          <p:nvPr/>
        </p:nvSpPr>
        <p:spPr>
          <a:xfrm>
            <a:off x="1232809" y="2820083"/>
            <a:ext cx="1410365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 dirty="0" smtClean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500" dirty="0" smtClean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录入</a:t>
            </a:r>
            <a:endParaRPr lang="zh-CN" altLang="en-US" sz="15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654410" y="4663885"/>
            <a:ext cx="1193808" cy="1245006"/>
            <a:chOff x="814316" y="4357694"/>
            <a:chExt cx="2286016" cy="2286016"/>
          </a:xfrm>
        </p:grpSpPr>
        <p:pic>
          <p:nvPicPr>
            <p:cNvPr id="148" name="图片 147"/>
            <p:cNvPicPr>
              <a:picLocks noChangeAspect="1"/>
            </p:cNvPicPr>
            <p:nvPr/>
          </p:nvPicPr>
          <p:blipFill>
            <a:blip r:embed="rId11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316" y="4357694"/>
              <a:ext cx="2286016" cy="2286016"/>
            </a:xfrm>
            <a:prstGeom prst="rect">
              <a:avLst/>
            </a:prstGeom>
          </p:spPr>
        </p:pic>
        <p:sp>
          <p:nvSpPr>
            <p:cNvPr id="149" name="文本框 148"/>
            <p:cNvSpPr txBox="1"/>
            <p:nvPr/>
          </p:nvSpPr>
          <p:spPr>
            <a:xfrm>
              <a:off x="1001495" y="5530918"/>
              <a:ext cx="2092336" cy="565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0" name="TextBox 26"/>
          <p:cNvSpPr txBox="1"/>
          <p:nvPr/>
        </p:nvSpPr>
        <p:spPr>
          <a:xfrm>
            <a:off x="447962" y="5892996"/>
            <a:ext cx="16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智能物联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云端管理系统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1" name="TextBox 2085"/>
          <p:cNvSpPr txBox="1"/>
          <p:nvPr/>
        </p:nvSpPr>
        <p:spPr>
          <a:xfrm>
            <a:off x="1285852" y="4367283"/>
            <a:ext cx="1303527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400" dirty="0" smtClean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传入</a:t>
            </a:r>
            <a:endParaRPr lang="zh-CN" altLang="en-US" sz="14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52" name="直接箭头连接符 151"/>
          <p:cNvCxnSpPr/>
          <p:nvPr/>
        </p:nvCxnSpPr>
        <p:spPr bwMode="auto">
          <a:xfrm>
            <a:off x="1216775" y="4357694"/>
            <a:ext cx="0" cy="4041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3" name="直接箭头连接符 152"/>
          <p:cNvCxnSpPr/>
          <p:nvPr/>
        </p:nvCxnSpPr>
        <p:spPr bwMode="auto">
          <a:xfrm>
            <a:off x="1201714" y="2810582"/>
            <a:ext cx="0" cy="4041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43" name="图片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763" y="3214706"/>
            <a:ext cx="1203464" cy="1203464"/>
          </a:xfrm>
          <a:prstGeom prst="rect">
            <a:avLst/>
          </a:prstGeom>
        </p:spPr>
      </p:pic>
      <p:sp>
        <p:nvSpPr>
          <p:cNvPr id="44" name="TextBox 31"/>
          <p:cNvSpPr txBox="1"/>
          <p:nvPr/>
        </p:nvSpPr>
        <p:spPr>
          <a:xfrm>
            <a:off x="7357324" y="2577939"/>
            <a:ext cx="1154714" cy="351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智能门锁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5" name="图片-1.png"/>
          <p:cNvPicPr>
            <a:picLocks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106" y="1176172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675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440373" y="686434"/>
            <a:ext cx="2857521" cy="287223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n-ea"/>
                <a:ea typeface="+mn-ea"/>
                <a:sym typeface="Arial" charset="0"/>
              </a:rPr>
              <a:t>7</a:t>
            </a:r>
            <a:r>
              <a:rPr lang="zh-CN" altLang="en-US" sz="2800" b="1" dirty="0" smtClean="0">
                <a:latin typeface="+mn-ea"/>
                <a:ea typeface="+mn-ea"/>
                <a:sym typeface="Arial" charset="0"/>
              </a:rPr>
              <a:t>、增加合租人</a:t>
            </a:r>
            <a:endParaRPr lang="zh-CN" altLang="zh-CN" sz="2800" b="1" dirty="0" smtClean="0">
              <a:latin typeface="+mn-ea"/>
              <a:ea typeface="+mn-ea"/>
              <a:sym typeface="Arial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98263" y="1071546"/>
            <a:ext cx="1144779" cy="1374045"/>
            <a:chOff x="642910" y="1204602"/>
            <a:chExt cx="1143008" cy="135082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916896" y="2252850"/>
              <a:ext cx="542898" cy="302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租户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000362" y="3106602"/>
            <a:ext cx="983646" cy="1395440"/>
            <a:chOff x="5715008" y="2988198"/>
            <a:chExt cx="977464" cy="1390801"/>
          </a:xfrm>
        </p:grpSpPr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2988198"/>
              <a:ext cx="977464" cy="908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5715008" y="4072245"/>
              <a:ext cx="897137" cy="306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门锁密码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49" name="组合 2048"/>
          <p:cNvGrpSpPr/>
          <p:nvPr/>
        </p:nvGrpSpPr>
        <p:grpSpPr>
          <a:xfrm>
            <a:off x="4929192" y="2963726"/>
            <a:ext cx="1143006" cy="1531952"/>
            <a:chOff x="1178589" y="4957335"/>
            <a:chExt cx="814671" cy="1245060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589" y="4957335"/>
              <a:ext cx="814671" cy="115359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265767" y="5952256"/>
              <a:ext cx="643473" cy="2501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电子门锁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" name="十字形 5"/>
          <p:cNvSpPr/>
          <p:nvPr/>
        </p:nvSpPr>
        <p:spPr bwMode="auto">
          <a:xfrm>
            <a:off x="4305126" y="3573348"/>
            <a:ext cx="371510" cy="324784"/>
          </a:xfrm>
          <a:prstGeom prst="plus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53" name="直接箭头连接符 52"/>
          <p:cNvCxnSpPr/>
          <p:nvPr/>
        </p:nvCxnSpPr>
        <p:spPr bwMode="auto">
          <a:xfrm>
            <a:off x="5715008" y="1928802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3" name="TextBox 2085"/>
          <p:cNvSpPr txBox="1"/>
          <p:nvPr/>
        </p:nvSpPr>
        <p:spPr>
          <a:xfrm>
            <a:off x="5876307" y="1500174"/>
            <a:ext cx="843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矩形 56"/>
          <p:cNvSpPr/>
          <p:nvPr/>
        </p:nvSpPr>
        <p:spPr bwMode="auto">
          <a:xfrm>
            <a:off x="2876366" y="2928934"/>
            <a:ext cx="3195832" cy="1573108"/>
          </a:xfrm>
          <a:prstGeom prst="rect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679677" y="1214423"/>
            <a:ext cx="1606703" cy="1482474"/>
            <a:chOff x="2808324" y="3201389"/>
            <a:chExt cx="2157564" cy="1747120"/>
          </a:xfrm>
        </p:grpSpPr>
        <p:pic>
          <p:nvPicPr>
            <p:cNvPr id="46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3219" y="3201389"/>
              <a:ext cx="1085202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26"/>
            <p:cNvSpPr txBox="1"/>
            <p:nvPr/>
          </p:nvSpPr>
          <p:spPr>
            <a:xfrm>
              <a:off x="2808324" y="4331886"/>
              <a:ext cx="2157564" cy="616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领地智慧社区平台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54" name="直接箭头连接符 53"/>
          <p:cNvCxnSpPr/>
          <p:nvPr/>
        </p:nvCxnSpPr>
        <p:spPr bwMode="auto">
          <a:xfrm>
            <a:off x="2120330" y="1928802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6" name="TextBox 2085"/>
          <p:cNvSpPr txBox="1"/>
          <p:nvPr/>
        </p:nvSpPr>
        <p:spPr>
          <a:xfrm>
            <a:off x="1928794" y="1500174"/>
            <a:ext cx="1719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申请新增合租人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7378720" y="1040986"/>
            <a:ext cx="1193808" cy="1245006"/>
            <a:chOff x="814316" y="4357694"/>
            <a:chExt cx="2286016" cy="2286016"/>
          </a:xfrm>
        </p:grpSpPr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316" y="4357694"/>
              <a:ext cx="2286016" cy="2286016"/>
            </a:xfrm>
            <a:prstGeom prst="rect">
              <a:avLst/>
            </a:prstGeom>
          </p:spPr>
        </p:pic>
        <p:sp>
          <p:nvSpPr>
            <p:cNvPr id="60" name="文本框 59"/>
            <p:cNvSpPr txBox="1"/>
            <p:nvPr/>
          </p:nvSpPr>
          <p:spPr>
            <a:xfrm>
              <a:off x="1001495" y="5530918"/>
              <a:ext cx="2092336" cy="565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88041" y="5096012"/>
            <a:ext cx="1144779" cy="1374045"/>
            <a:chOff x="642910" y="1204602"/>
            <a:chExt cx="1143008" cy="1350824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63" name="TextBox 2"/>
            <p:cNvSpPr txBox="1"/>
            <p:nvPr/>
          </p:nvSpPr>
          <p:spPr>
            <a:xfrm>
              <a:off x="916896" y="2252850"/>
              <a:ext cx="722156" cy="302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合租人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679677" y="5259317"/>
            <a:ext cx="1606703" cy="1482474"/>
            <a:chOff x="2808324" y="3201389"/>
            <a:chExt cx="2157564" cy="1747120"/>
          </a:xfrm>
        </p:grpSpPr>
        <p:pic>
          <p:nvPicPr>
            <p:cNvPr id="66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3219" y="3201389"/>
              <a:ext cx="1085202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TextBox 26"/>
            <p:cNvSpPr txBox="1"/>
            <p:nvPr/>
          </p:nvSpPr>
          <p:spPr>
            <a:xfrm>
              <a:off x="2808324" y="4331886"/>
              <a:ext cx="2157564" cy="616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领地智慧社区平台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8" name="TextBox 26"/>
          <p:cNvSpPr txBox="1"/>
          <p:nvPr/>
        </p:nvSpPr>
        <p:spPr>
          <a:xfrm>
            <a:off x="7218632" y="2181500"/>
            <a:ext cx="16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智能物联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云端管理系统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肘形连接符 7"/>
          <p:cNvCxnSpPr/>
          <p:nvPr/>
        </p:nvCxnSpPr>
        <p:spPr bwMode="auto">
          <a:xfrm rot="10800000" flipV="1">
            <a:off x="6715140" y="2643182"/>
            <a:ext cx="1191670" cy="1071569"/>
          </a:xfrm>
          <a:prstGeom prst="bentConnector3">
            <a:avLst>
              <a:gd name="adj1" fmla="val -90"/>
            </a:avLst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9" name="TextBox 2085"/>
          <p:cNvSpPr txBox="1"/>
          <p:nvPr/>
        </p:nvSpPr>
        <p:spPr>
          <a:xfrm>
            <a:off x="7178809" y="3274670"/>
            <a:ext cx="843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开通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 bwMode="auto">
          <a:xfrm>
            <a:off x="4500562" y="4643446"/>
            <a:ext cx="0" cy="43006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3" name="直接箭头连接符 72"/>
          <p:cNvCxnSpPr/>
          <p:nvPr/>
        </p:nvCxnSpPr>
        <p:spPr bwMode="auto">
          <a:xfrm>
            <a:off x="2120330" y="5857892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4" name="TextBox 2085"/>
          <p:cNvSpPr txBox="1"/>
          <p:nvPr/>
        </p:nvSpPr>
        <p:spPr>
          <a:xfrm>
            <a:off x="2214546" y="5429263"/>
            <a:ext cx="1719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安装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5" name="直接箭头连接符 74"/>
          <p:cNvCxnSpPr/>
          <p:nvPr/>
        </p:nvCxnSpPr>
        <p:spPr bwMode="auto">
          <a:xfrm>
            <a:off x="5797133" y="5857892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TextBox 2085"/>
          <p:cNvSpPr txBox="1"/>
          <p:nvPr/>
        </p:nvSpPr>
        <p:spPr>
          <a:xfrm>
            <a:off x="5958432" y="5429264"/>
            <a:ext cx="843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开启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TextBox 31"/>
          <p:cNvSpPr txBox="1"/>
          <p:nvPr/>
        </p:nvSpPr>
        <p:spPr>
          <a:xfrm>
            <a:off x="7148990" y="6196028"/>
            <a:ext cx="902811" cy="307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智能门锁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2" name="图片-1.png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893" y="4784503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623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7553" y="642918"/>
            <a:ext cx="4214843" cy="237370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n-ea"/>
                <a:ea typeface="+mn-ea"/>
                <a:sym typeface="Arial" charset="0"/>
              </a:rPr>
              <a:t>8</a:t>
            </a:r>
            <a:r>
              <a:rPr lang="zh-CN" altLang="en-US" sz="2800" b="1" dirty="0" smtClean="0">
                <a:latin typeface="+mn-ea"/>
                <a:ea typeface="+mn-ea"/>
                <a:sym typeface="Arial" charset="0"/>
              </a:rPr>
              <a:t>、变更合租人</a:t>
            </a:r>
            <a:endParaRPr lang="zh-CN" altLang="zh-CN" sz="2800" b="1" dirty="0" smtClean="0">
              <a:latin typeface="+mn-ea"/>
              <a:ea typeface="+mn-ea"/>
              <a:sym typeface="Arial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98263" y="1134622"/>
            <a:ext cx="1144779" cy="1374045"/>
            <a:chOff x="642910" y="1204602"/>
            <a:chExt cx="1143008" cy="135082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916896" y="2252850"/>
              <a:ext cx="542898" cy="302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租户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981485" y="3143247"/>
            <a:ext cx="1107056" cy="1472945"/>
            <a:chOff x="5715008" y="2988198"/>
            <a:chExt cx="977464" cy="1391852"/>
          </a:xfrm>
        </p:grpSpPr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2988198"/>
              <a:ext cx="977464" cy="908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5715008" y="4072245"/>
              <a:ext cx="914662" cy="307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门锁密码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49" name="组合 2048"/>
          <p:cNvGrpSpPr/>
          <p:nvPr/>
        </p:nvGrpSpPr>
        <p:grpSpPr>
          <a:xfrm>
            <a:off x="4928664" y="3035165"/>
            <a:ext cx="1286410" cy="1616930"/>
            <a:chOff x="1178589" y="4957335"/>
            <a:chExt cx="814671" cy="1245917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589" y="4957335"/>
              <a:ext cx="814671" cy="115359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265767" y="5952256"/>
              <a:ext cx="656043" cy="250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电子门锁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" name="十字形 5"/>
          <p:cNvSpPr/>
          <p:nvPr/>
        </p:nvSpPr>
        <p:spPr bwMode="auto">
          <a:xfrm>
            <a:off x="4296755" y="3602967"/>
            <a:ext cx="418121" cy="342564"/>
          </a:xfrm>
          <a:prstGeom prst="plus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53" name="直接箭头连接符 52"/>
          <p:cNvCxnSpPr/>
          <p:nvPr/>
        </p:nvCxnSpPr>
        <p:spPr bwMode="auto">
          <a:xfrm>
            <a:off x="5429256" y="1928802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3" name="TextBox 2085"/>
          <p:cNvSpPr txBox="1"/>
          <p:nvPr/>
        </p:nvSpPr>
        <p:spPr>
          <a:xfrm>
            <a:off x="5590555" y="1580365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矩形 56"/>
          <p:cNvSpPr/>
          <p:nvPr/>
        </p:nvSpPr>
        <p:spPr bwMode="auto">
          <a:xfrm>
            <a:off x="2786051" y="3000372"/>
            <a:ext cx="3531702" cy="1659227"/>
          </a:xfrm>
          <a:prstGeom prst="rect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677479" y="1107264"/>
            <a:ext cx="1749579" cy="1389473"/>
            <a:chOff x="2808324" y="3201389"/>
            <a:chExt cx="2157564" cy="1452159"/>
          </a:xfrm>
        </p:grpSpPr>
        <p:pic>
          <p:nvPicPr>
            <p:cNvPr id="46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3219" y="3201389"/>
              <a:ext cx="1085202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26"/>
            <p:cNvSpPr txBox="1"/>
            <p:nvPr/>
          </p:nvSpPr>
          <p:spPr>
            <a:xfrm>
              <a:off x="2808324" y="4331886"/>
              <a:ext cx="2157564" cy="321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领地智慧社区平台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54" name="直接箭头连接符 53"/>
          <p:cNvCxnSpPr/>
          <p:nvPr/>
        </p:nvCxnSpPr>
        <p:spPr bwMode="auto">
          <a:xfrm>
            <a:off x="1961955" y="1928802"/>
            <a:ext cx="132416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6" name="TextBox 2085"/>
          <p:cNvSpPr txBox="1"/>
          <p:nvPr/>
        </p:nvSpPr>
        <p:spPr>
          <a:xfrm>
            <a:off x="1924199" y="1580365"/>
            <a:ext cx="1719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申请变更合租人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7021530" y="1071546"/>
            <a:ext cx="1193808" cy="1245006"/>
            <a:chOff x="814316" y="4357694"/>
            <a:chExt cx="2286016" cy="2286016"/>
          </a:xfrm>
        </p:grpSpPr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316" y="4357694"/>
              <a:ext cx="2286016" cy="2286016"/>
            </a:xfrm>
            <a:prstGeom prst="rect">
              <a:avLst/>
            </a:prstGeom>
          </p:spPr>
        </p:pic>
        <p:sp>
          <p:nvSpPr>
            <p:cNvPr id="60" name="文本框 59"/>
            <p:cNvSpPr txBox="1"/>
            <p:nvPr/>
          </p:nvSpPr>
          <p:spPr>
            <a:xfrm>
              <a:off x="1001495" y="5530918"/>
              <a:ext cx="2092336" cy="565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751115" y="5143512"/>
            <a:ext cx="1606703" cy="1236253"/>
            <a:chOff x="2808324" y="3201389"/>
            <a:chExt cx="2157564" cy="1456945"/>
          </a:xfrm>
        </p:grpSpPr>
        <p:pic>
          <p:nvPicPr>
            <p:cNvPr id="66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3219" y="3201389"/>
              <a:ext cx="1085202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TextBox 26"/>
            <p:cNvSpPr txBox="1"/>
            <p:nvPr/>
          </p:nvSpPr>
          <p:spPr>
            <a:xfrm>
              <a:off x="2808324" y="4331886"/>
              <a:ext cx="2157564" cy="326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领地智慧社区平台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8" name="TextBox 26"/>
          <p:cNvSpPr txBox="1"/>
          <p:nvPr/>
        </p:nvSpPr>
        <p:spPr>
          <a:xfrm>
            <a:off x="6862259" y="2200545"/>
            <a:ext cx="1606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智能物联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云端管理系统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3" name="直接箭头连接符 72"/>
          <p:cNvCxnSpPr/>
          <p:nvPr/>
        </p:nvCxnSpPr>
        <p:spPr bwMode="auto">
          <a:xfrm>
            <a:off x="2033393" y="5857892"/>
            <a:ext cx="132416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4" name="TextBox 2085"/>
          <p:cNvSpPr txBox="1"/>
          <p:nvPr/>
        </p:nvSpPr>
        <p:spPr>
          <a:xfrm>
            <a:off x="2281389" y="5429263"/>
            <a:ext cx="1719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安装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5" name="直接箭头连接符 74"/>
          <p:cNvCxnSpPr/>
          <p:nvPr/>
        </p:nvCxnSpPr>
        <p:spPr bwMode="auto">
          <a:xfrm>
            <a:off x="5143504" y="5857892"/>
            <a:ext cx="193870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TextBox 2085"/>
          <p:cNvSpPr txBox="1"/>
          <p:nvPr/>
        </p:nvSpPr>
        <p:spPr>
          <a:xfrm>
            <a:off x="5715008" y="5429264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开启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512529" y="4896128"/>
            <a:ext cx="1144779" cy="1343267"/>
            <a:chOff x="642910" y="1204602"/>
            <a:chExt cx="1143008" cy="1320566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44" name="TextBox 2"/>
            <p:cNvSpPr txBox="1"/>
            <p:nvPr/>
          </p:nvSpPr>
          <p:spPr>
            <a:xfrm>
              <a:off x="773089" y="2252850"/>
              <a:ext cx="798981" cy="2723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新合</a:t>
              </a:r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租人</a:t>
              </a:r>
            </a:p>
          </p:txBody>
        </p:sp>
      </p:grpSp>
      <p:sp>
        <p:nvSpPr>
          <p:cNvPr id="47" name="TextBox 2085"/>
          <p:cNvSpPr txBox="1"/>
          <p:nvPr/>
        </p:nvSpPr>
        <p:spPr>
          <a:xfrm>
            <a:off x="6532066" y="2737014"/>
            <a:ext cx="1147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开通</a:t>
            </a:r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收回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500034" y="3100084"/>
            <a:ext cx="1233218" cy="1543362"/>
            <a:chOff x="3118569" y="3201389"/>
            <a:chExt cx="1520792" cy="1612990"/>
          </a:xfrm>
        </p:grpSpPr>
        <p:pic>
          <p:nvPicPr>
            <p:cNvPr id="49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3219" y="3201389"/>
              <a:ext cx="1085202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26"/>
            <p:cNvSpPr txBox="1"/>
            <p:nvPr/>
          </p:nvSpPr>
          <p:spPr>
            <a:xfrm>
              <a:off x="3118569" y="4331886"/>
              <a:ext cx="1520792" cy="482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原合租人</a:t>
              </a:r>
              <a:r>
                <a:rPr lang="en-US" altLang="zh-CN" sz="12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领地智慧社区平台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64" name="直接箭头连接符 63"/>
          <p:cNvCxnSpPr/>
          <p:nvPr/>
        </p:nvCxnSpPr>
        <p:spPr bwMode="auto">
          <a:xfrm>
            <a:off x="1738754" y="3789063"/>
            <a:ext cx="90442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0" name="TextBox 2085"/>
          <p:cNvSpPr txBox="1"/>
          <p:nvPr/>
        </p:nvSpPr>
        <p:spPr>
          <a:xfrm>
            <a:off x="1871437" y="3412111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收回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429125" y="2482782"/>
            <a:ext cx="3158604" cy="446152"/>
            <a:chOff x="4494398" y="4437672"/>
            <a:chExt cx="2981160" cy="565144"/>
          </a:xfrm>
        </p:grpSpPr>
        <p:cxnSp>
          <p:nvCxnSpPr>
            <p:cNvPr id="14" name="直接连接符 13"/>
            <p:cNvCxnSpPr/>
            <p:nvPr/>
          </p:nvCxnSpPr>
          <p:spPr bwMode="auto">
            <a:xfrm>
              <a:off x="7461396" y="4437672"/>
              <a:ext cx="0" cy="25087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>
              <a:off x="4494398" y="4668846"/>
              <a:ext cx="29811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箭头连接符 70"/>
            <p:cNvCxnSpPr/>
            <p:nvPr/>
          </p:nvCxnSpPr>
          <p:spPr bwMode="auto">
            <a:xfrm>
              <a:off x="4494398" y="4668846"/>
              <a:ext cx="0" cy="33397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72" name="TextBox 2085"/>
          <p:cNvSpPr txBox="1"/>
          <p:nvPr/>
        </p:nvSpPr>
        <p:spPr>
          <a:xfrm>
            <a:off x="5002781" y="4896111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开通</a:t>
            </a:r>
          </a:p>
        </p:txBody>
      </p:sp>
      <p:cxnSp>
        <p:nvCxnSpPr>
          <p:cNvPr id="77" name="直接箭头连接符 76"/>
          <p:cNvCxnSpPr/>
          <p:nvPr/>
        </p:nvCxnSpPr>
        <p:spPr bwMode="auto">
          <a:xfrm>
            <a:off x="4500562" y="4714884"/>
            <a:ext cx="0" cy="4041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51" name="图片-1.png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109" y="4956959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31"/>
          <p:cNvSpPr txBox="1"/>
          <p:nvPr/>
        </p:nvSpPr>
        <p:spPr>
          <a:xfrm>
            <a:off x="7021530" y="640417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智能门锁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389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221718" y="642918"/>
            <a:ext cx="3000396" cy="342746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n-ea"/>
                <a:ea typeface="+mn-ea"/>
                <a:sym typeface="Arial" charset="0"/>
              </a:rPr>
              <a:t>9</a:t>
            </a:r>
            <a:r>
              <a:rPr lang="zh-CN" altLang="en-US" sz="2800" b="1" dirty="0" smtClean="0">
                <a:latin typeface="+mn-ea"/>
                <a:ea typeface="+mn-ea"/>
                <a:sym typeface="Arial" charset="0"/>
              </a:rPr>
              <a:t>、访客来访</a:t>
            </a:r>
            <a:endParaRPr lang="zh-CN" altLang="zh-CN" sz="2800" b="1" dirty="0" smtClean="0">
              <a:latin typeface="+mn-ea"/>
              <a:ea typeface="+mn-ea"/>
              <a:sym typeface="Arial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688133" y="1057103"/>
            <a:ext cx="1144779" cy="1374045"/>
            <a:chOff x="642910" y="1204602"/>
            <a:chExt cx="1143008" cy="135082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916896" y="2252850"/>
              <a:ext cx="542898" cy="3025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租户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714744" y="5143512"/>
            <a:ext cx="1107056" cy="1424206"/>
            <a:chOff x="5715008" y="2988198"/>
            <a:chExt cx="977464" cy="1345796"/>
          </a:xfrm>
        </p:grpSpPr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2988198"/>
              <a:ext cx="977464" cy="908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5838767" y="4072245"/>
              <a:ext cx="706545" cy="261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临时密码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53" name="直接箭头连接符 52"/>
          <p:cNvCxnSpPr/>
          <p:nvPr/>
        </p:nvCxnSpPr>
        <p:spPr bwMode="auto">
          <a:xfrm>
            <a:off x="5574359" y="3779468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3" name="TextBox 2085"/>
          <p:cNvSpPr txBox="1"/>
          <p:nvPr/>
        </p:nvSpPr>
        <p:spPr>
          <a:xfrm>
            <a:off x="5735658" y="3431031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同意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3465363" y="3140903"/>
            <a:ext cx="1749579" cy="1389473"/>
            <a:chOff x="2896421" y="3201389"/>
            <a:chExt cx="2157564" cy="1452159"/>
          </a:xfrm>
        </p:grpSpPr>
        <p:pic>
          <p:nvPicPr>
            <p:cNvPr id="46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3219" y="3201389"/>
              <a:ext cx="1085202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26"/>
            <p:cNvSpPr txBox="1"/>
            <p:nvPr/>
          </p:nvSpPr>
          <p:spPr>
            <a:xfrm>
              <a:off x="2896421" y="4331886"/>
              <a:ext cx="2157564" cy="321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领地智慧社区平台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54" name="直接箭头连接符 53"/>
          <p:cNvCxnSpPr/>
          <p:nvPr/>
        </p:nvCxnSpPr>
        <p:spPr bwMode="auto">
          <a:xfrm>
            <a:off x="1961955" y="1785926"/>
            <a:ext cx="132416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6" name="TextBox 2085"/>
          <p:cNvSpPr txBox="1"/>
          <p:nvPr/>
        </p:nvSpPr>
        <p:spPr>
          <a:xfrm>
            <a:off x="2209951" y="1428737"/>
            <a:ext cx="718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来访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913059" y="5000636"/>
            <a:ext cx="1606703" cy="1532156"/>
            <a:chOff x="6862259" y="1071546"/>
            <a:chExt cx="1606703" cy="1532156"/>
          </a:xfrm>
        </p:grpSpPr>
        <p:grpSp>
          <p:nvGrpSpPr>
            <p:cNvPr id="58" name="组合 57"/>
            <p:cNvGrpSpPr/>
            <p:nvPr/>
          </p:nvGrpSpPr>
          <p:grpSpPr>
            <a:xfrm>
              <a:off x="7021530" y="1071546"/>
              <a:ext cx="1193808" cy="1245006"/>
              <a:chOff x="814316" y="4357694"/>
              <a:chExt cx="2286016" cy="2286016"/>
            </a:xfrm>
          </p:grpSpPr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4316" y="4357694"/>
                <a:ext cx="2286016" cy="2286016"/>
              </a:xfrm>
              <a:prstGeom prst="rect">
                <a:avLst/>
              </a:prstGeom>
            </p:spPr>
          </p:pic>
          <p:sp>
            <p:nvSpPr>
              <p:cNvPr id="60" name="文本框 59"/>
              <p:cNvSpPr txBox="1"/>
              <p:nvPr/>
            </p:nvSpPr>
            <p:spPr>
              <a:xfrm>
                <a:off x="1001495" y="5530918"/>
                <a:ext cx="2092336" cy="565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8" name="TextBox 26"/>
            <p:cNvSpPr txBox="1"/>
            <p:nvPr/>
          </p:nvSpPr>
          <p:spPr>
            <a:xfrm>
              <a:off x="6862259" y="2142037"/>
              <a:ext cx="16067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智能物联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云端管理系统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75" name="直接箭头连接符 74"/>
          <p:cNvCxnSpPr/>
          <p:nvPr/>
        </p:nvCxnSpPr>
        <p:spPr bwMode="auto">
          <a:xfrm flipH="1">
            <a:off x="5510965" y="5715016"/>
            <a:ext cx="120378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TextBox 2085"/>
          <p:cNvSpPr txBox="1"/>
          <p:nvPr/>
        </p:nvSpPr>
        <p:spPr>
          <a:xfrm>
            <a:off x="5800527" y="5355481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" name="TextBox 2085"/>
          <p:cNvSpPr txBox="1"/>
          <p:nvPr/>
        </p:nvSpPr>
        <p:spPr>
          <a:xfrm>
            <a:off x="4357686" y="2535896"/>
            <a:ext cx="1446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申请临时密码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8" name="直接箭头连接符 77"/>
          <p:cNvCxnSpPr/>
          <p:nvPr/>
        </p:nvCxnSpPr>
        <p:spPr bwMode="auto">
          <a:xfrm>
            <a:off x="4341810" y="2497961"/>
            <a:ext cx="0" cy="48896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786" y="1142984"/>
            <a:ext cx="787225" cy="944671"/>
          </a:xfrm>
          <a:prstGeom prst="rect">
            <a:avLst/>
          </a:prstGeom>
        </p:spPr>
      </p:pic>
      <p:sp>
        <p:nvSpPr>
          <p:cNvPr id="61" name="TextBox 26"/>
          <p:cNvSpPr txBox="1"/>
          <p:nvPr/>
        </p:nvSpPr>
        <p:spPr>
          <a:xfrm>
            <a:off x="928662" y="2090825"/>
            <a:ext cx="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访客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221060" y="2855151"/>
            <a:ext cx="902811" cy="1736038"/>
            <a:chOff x="5156687" y="3226118"/>
            <a:chExt cx="902811" cy="1736038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1466" y="3226118"/>
              <a:ext cx="816961" cy="1109158"/>
            </a:xfrm>
            <a:prstGeom prst="rect">
              <a:avLst/>
            </a:prstGeom>
          </p:spPr>
        </p:pic>
        <p:sp>
          <p:nvSpPr>
            <p:cNvPr id="62" name="TextBox 2"/>
            <p:cNvSpPr txBox="1"/>
            <p:nvPr/>
          </p:nvSpPr>
          <p:spPr>
            <a:xfrm>
              <a:off x="5156687" y="4438936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风险条款</a:t>
              </a:r>
              <a:endParaRPr lang="en-US" altLang="zh-CN" sz="1400" dirty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有效期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3" name="TextBox 2085"/>
          <p:cNvSpPr txBox="1"/>
          <p:nvPr/>
        </p:nvSpPr>
        <p:spPr>
          <a:xfrm>
            <a:off x="7751762" y="4667272"/>
            <a:ext cx="1446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9" name="直接箭头连接符 68"/>
          <p:cNvCxnSpPr/>
          <p:nvPr/>
        </p:nvCxnSpPr>
        <p:spPr bwMode="auto">
          <a:xfrm>
            <a:off x="7680324" y="4656206"/>
            <a:ext cx="0" cy="4041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9" name="TextBox 2085"/>
          <p:cNvSpPr txBox="1"/>
          <p:nvPr/>
        </p:nvSpPr>
        <p:spPr>
          <a:xfrm>
            <a:off x="4357686" y="4643814"/>
            <a:ext cx="1446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1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导入</a:t>
            </a:r>
          </a:p>
        </p:txBody>
      </p:sp>
      <p:cxnSp>
        <p:nvCxnSpPr>
          <p:cNvPr id="80" name="直接箭头连接符 79"/>
          <p:cNvCxnSpPr/>
          <p:nvPr/>
        </p:nvCxnSpPr>
        <p:spPr bwMode="auto">
          <a:xfrm flipV="1">
            <a:off x="4286248" y="4632748"/>
            <a:ext cx="0" cy="4041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2" name="直接箭头连接符 81"/>
          <p:cNvCxnSpPr/>
          <p:nvPr/>
        </p:nvCxnSpPr>
        <p:spPr bwMode="auto">
          <a:xfrm flipH="1">
            <a:off x="1934737" y="1928801"/>
            <a:ext cx="132416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3" name="TextBox 2085"/>
          <p:cNvSpPr txBox="1"/>
          <p:nvPr/>
        </p:nvSpPr>
        <p:spPr>
          <a:xfrm>
            <a:off x="2222651" y="2008993"/>
            <a:ext cx="718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通知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4" name="直接箭头连接符 83"/>
          <p:cNvCxnSpPr/>
          <p:nvPr/>
        </p:nvCxnSpPr>
        <p:spPr bwMode="auto">
          <a:xfrm flipV="1">
            <a:off x="4143372" y="2497961"/>
            <a:ext cx="0" cy="48896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TextBox 2085"/>
          <p:cNvSpPr txBox="1"/>
          <p:nvPr/>
        </p:nvSpPr>
        <p:spPr>
          <a:xfrm>
            <a:off x="3370648" y="2535896"/>
            <a:ext cx="91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推送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6" name="直接箭头连接符 85"/>
          <p:cNvCxnSpPr/>
          <p:nvPr/>
        </p:nvCxnSpPr>
        <p:spPr bwMode="auto">
          <a:xfrm>
            <a:off x="1201714" y="2511407"/>
            <a:ext cx="0" cy="48896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7" name="TextBox 2085"/>
          <p:cNvSpPr txBox="1"/>
          <p:nvPr/>
        </p:nvSpPr>
        <p:spPr>
          <a:xfrm>
            <a:off x="453476" y="2548773"/>
            <a:ext cx="91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开启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564188" y="5012354"/>
            <a:ext cx="1507482" cy="1505048"/>
            <a:chOff x="1354124" y="5001260"/>
            <a:chExt cx="1118734" cy="1073286"/>
          </a:xfrm>
        </p:grpSpPr>
        <p:sp>
          <p:nvSpPr>
            <p:cNvPr id="89" name="TextBox 8"/>
            <p:cNvSpPr txBox="1"/>
            <p:nvPr/>
          </p:nvSpPr>
          <p:spPr>
            <a:xfrm>
              <a:off x="1665761" y="5877011"/>
              <a:ext cx="365452" cy="1975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公寓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0" name="图片 89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4124" y="5001260"/>
              <a:ext cx="1118734" cy="1002502"/>
            </a:xfrm>
            <a:prstGeom prst="rect">
              <a:avLst/>
            </a:prstGeom>
          </p:spPr>
        </p:pic>
      </p:grpSp>
      <p:sp>
        <p:nvSpPr>
          <p:cNvPr id="91" name="TextBox 2085"/>
          <p:cNvSpPr txBox="1"/>
          <p:nvPr/>
        </p:nvSpPr>
        <p:spPr>
          <a:xfrm>
            <a:off x="515471" y="4740595"/>
            <a:ext cx="1446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进入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2" name="直接箭头连接符 91"/>
          <p:cNvCxnSpPr/>
          <p:nvPr/>
        </p:nvCxnSpPr>
        <p:spPr bwMode="auto">
          <a:xfrm>
            <a:off x="1229245" y="4698524"/>
            <a:ext cx="0" cy="4041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TextBox 31"/>
          <p:cNvSpPr txBox="1"/>
          <p:nvPr/>
        </p:nvSpPr>
        <p:spPr>
          <a:xfrm>
            <a:off x="878702" y="436644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智能门锁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9" name="图片-1.png"/>
          <p:cNvPicPr>
            <a:picLocks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12" y="3016660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183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918417" y="642918"/>
            <a:ext cx="3582409" cy="317650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n-ea"/>
                <a:ea typeface="+mn-ea"/>
                <a:sym typeface="Arial" charset="0"/>
              </a:rPr>
              <a:t>10</a:t>
            </a:r>
            <a:r>
              <a:rPr lang="zh-CN" altLang="en-US" sz="2800" b="1" dirty="0" smtClean="0">
                <a:latin typeface="+mn-ea"/>
                <a:ea typeface="+mn-ea"/>
                <a:sym typeface="Arial" charset="0"/>
              </a:rPr>
              <a:t>、租户手机遗失</a:t>
            </a:r>
            <a:endParaRPr lang="zh-CN" altLang="zh-CN" sz="2800" b="1" dirty="0" smtClean="0">
              <a:latin typeface="+mn-ea"/>
              <a:ea typeface="+mn-ea"/>
              <a:sym typeface="Arial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98263" y="1071546"/>
            <a:ext cx="1144779" cy="1343267"/>
            <a:chOff x="642910" y="1204602"/>
            <a:chExt cx="1143008" cy="132056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916896" y="2252850"/>
              <a:ext cx="491681" cy="2723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租户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929058" y="3236294"/>
            <a:ext cx="1107996" cy="1364662"/>
            <a:chOff x="5653249" y="2988198"/>
            <a:chExt cx="1101032" cy="1360125"/>
          </a:xfrm>
        </p:grpSpPr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2988198"/>
              <a:ext cx="977464" cy="908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5653249" y="4072245"/>
              <a:ext cx="1101032" cy="2760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门锁临时密码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49" name="组合 2048"/>
          <p:cNvGrpSpPr/>
          <p:nvPr/>
        </p:nvGrpSpPr>
        <p:grpSpPr>
          <a:xfrm>
            <a:off x="7429520" y="4971063"/>
            <a:ext cx="1143006" cy="1501174"/>
            <a:chOff x="1178589" y="4957335"/>
            <a:chExt cx="814671" cy="1220046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589" y="4957335"/>
              <a:ext cx="814671" cy="115359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247610" y="5952256"/>
              <a:ext cx="680034" cy="2251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原电子门锁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738813" y="1211078"/>
            <a:ext cx="1761881" cy="1388221"/>
            <a:chOff x="2945400" y="3201389"/>
            <a:chExt cx="2157564" cy="1412301"/>
          </a:xfrm>
        </p:grpSpPr>
        <p:pic>
          <p:nvPicPr>
            <p:cNvPr id="46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3219" y="3201389"/>
              <a:ext cx="1085202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26"/>
            <p:cNvSpPr txBox="1"/>
            <p:nvPr/>
          </p:nvSpPr>
          <p:spPr>
            <a:xfrm>
              <a:off x="2945400" y="4331886"/>
              <a:ext cx="2157564" cy="281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领地智慧社区平台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54" name="直接箭头连接符 53"/>
          <p:cNvCxnSpPr/>
          <p:nvPr/>
        </p:nvCxnSpPr>
        <p:spPr bwMode="auto">
          <a:xfrm>
            <a:off x="2120330" y="1928802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6" name="TextBox 2085"/>
          <p:cNvSpPr txBox="1"/>
          <p:nvPr/>
        </p:nvSpPr>
        <p:spPr>
          <a:xfrm>
            <a:off x="2000233" y="1580365"/>
            <a:ext cx="142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申请作废原钥匙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152572" y="3072028"/>
            <a:ext cx="1606703" cy="1598347"/>
            <a:chOff x="7152572" y="1040986"/>
            <a:chExt cx="1606703" cy="1598347"/>
          </a:xfrm>
        </p:grpSpPr>
        <p:grpSp>
          <p:nvGrpSpPr>
            <p:cNvPr id="58" name="组合 57"/>
            <p:cNvGrpSpPr/>
            <p:nvPr/>
          </p:nvGrpSpPr>
          <p:grpSpPr>
            <a:xfrm>
              <a:off x="7378720" y="1040986"/>
              <a:ext cx="1193808" cy="1245006"/>
              <a:chOff x="814316" y="4357694"/>
              <a:chExt cx="2286016" cy="2286016"/>
            </a:xfrm>
          </p:grpSpPr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4316" y="4357694"/>
                <a:ext cx="2286016" cy="2286016"/>
              </a:xfrm>
              <a:prstGeom prst="rect">
                <a:avLst/>
              </a:prstGeom>
            </p:spPr>
          </p:pic>
          <p:sp>
            <p:nvSpPr>
              <p:cNvPr id="60" name="文本框 59"/>
              <p:cNvSpPr txBox="1"/>
              <p:nvPr/>
            </p:nvSpPr>
            <p:spPr>
              <a:xfrm>
                <a:off x="1001495" y="5530918"/>
                <a:ext cx="2092336" cy="508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8" name="TextBox 26"/>
            <p:cNvSpPr txBox="1"/>
            <p:nvPr/>
          </p:nvSpPr>
          <p:spPr>
            <a:xfrm>
              <a:off x="7152572" y="2177668"/>
              <a:ext cx="16067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智能物联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云端管理系统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36" name="直接箭头连接符 35"/>
          <p:cNvCxnSpPr/>
          <p:nvPr/>
        </p:nvCxnSpPr>
        <p:spPr bwMode="auto">
          <a:xfrm>
            <a:off x="7929586" y="2692440"/>
            <a:ext cx="0" cy="43006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6" name="TextBox 2085"/>
          <p:cNvSpPr txBox="1"/>
          <p:nvPr/>
        </p:nvSpPr>
        <p:spPr>
          <a:xfrm>
            <a:off x="357158" y="4762076"/>
            <a:ext cx="843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进入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415" y="1267592"/>
            <a:ext cx="1087569" cy="1020494"/>
          </a:xfrm>
          <a:prstGeom prst="rect">
            <a:avLst/>
          </a:prstGeom>
        </p:spPr>
      </p:pic>
      <p:sp>
        <p:nvSpPr>
          <p:cNvPr id="44" name="TextBox 26"/>
          <p:cNvSpPr txBox="1"/>
          <p:nvPr/>
        </p:nvSpPr>
        <p:spPr>
          <a:xfrm>
            <a:off x="7445325" y="2327565"/>
            <a:ext cx="900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身份信息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98262" y="5039074"/>
            <a:ext cx="1379023" cy="1478327"/>
            <a:chOff x="1354124" y="5001260"/>
            <a:chExt cx="1118734" cy="1073286"/>
          </a:xfrm>
        </p:grpSpPr>
        <p:sp>
          <p:nvSpPr>
            <p:cNvPr id="47" name="TextBox 8"/>
            <p:cNvSpPr txBox="1"/>
            <p:nvPr/>
          </p:nvSpPr>
          <p:spPr>
            <a:xfrm>
              <a:off x="1645332" y="5877011"/>
              <a:ext cx="365452" cy="1975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公寓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4124" y="5001260"/>
              <a:ext cx="1118734" cy="1002502"/>
            </a:xfrm>
            <a:prstGeom prst="rect">
              <a:avLst/>
            </a:prstGeom>
          </p:spPr>
        </p:pic>
      </p:grpSp>
      <p:cxnSp>
        <p:nvCxnSpPr>
          <p:cNvPr id="50" name="直接箭头连接符 49"/>
          <p:cNvCxnSpPr/>
          <p:nvPr/>
        </p:nvCxnSpPr>
        <p:spPr bwMode="auto">
          <a:xfrm>
            <a:off x="1084184" y="4698524"/>
            <a:ext cx="0" cy="4041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TextBox 2085"/>
          <p:cNvSpPr txBox="1"/>
          <p:nvPr/>
        </p:nvSpPr>
        <p:spPr>
          <a:xfrm>
            <a:off x="351430" y="2545437"/>
            <a:ext cx="1446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开启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4" name="直接箭头连接符 63"/>
          <p:cNvCxnSpPr/>
          <p:nvPr/>
        </p:nvCxnSpPr>
        <p:spPr bwMode="auto">
          <a:xfrm>
            <a:off x="1065204" y="2503366"/>
            <a:ext cx="0" cy="4041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7" name="直接箭头连接符 76"/>
          <p:cNvCxnSpPr/>
          <p:nvPr/>
        </p:nvCxnSpPr>
        <p:spPr bwMode="auto">
          <a:xfrm>
            <a:off x="5710408" y="1928802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8" name="TextBox 2085"/>
          <p:cNvSpPr txBox="1"/>
          <p:nvPr/>
        </p:nvSpPr>
        <p:spPr>
          <a:xfrm>
            <a:off x="5795422" y="1571612"/>
            <a:ext cx="839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验证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" name="TextBox 2085"/>
          <p:cNvSpPr txBox="1"/>
          <p:nvPr/>
        </p:nvSpPr>
        <p:spPr>
          <a:xfrm>
            <a:off x="8038745" y="2725075"/>
            <a:ext cx="839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" name="TextBox 2085"/>
          <p:cNvSpPr txBox="1"/>
          <p:nvPr/>
        </p:nvSpPr>
        <p:spPr>
          <a:xfrm>
            <a:off x="8038745" y="4572008"/>
            <a:ext cx="839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200" dirty="0" smtClean="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收回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1" name="直接箭头连接符 80"/>
          <p:cNvCxnSpPr/>
          <p:nvPr/>
        </p:nvCxnSpPr>
        <p:spPr bwMode="auto">
          <a:xfrm flipV="1">
            <a:off x="7951943" y="4500570"/>
            <a:ext cx="0" cy="43006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2" name="直接箭头连接符 81"/>
          <p:cNvCxnSpPr/>
          <p:nvPr/>
        </p:nvCxnSpPr>
        <p:spPr bwMode="auto">
          <a:xfrm flipH="1" flipV="1">
            <a:off x="5710408" y="3848875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3" name="TextBox 2085"/>
          <p:cNvSpPr txBox="1"/>
          <p:nvPr/>
        </p:nvSpPr>
        <p:spPr>
          <a:xfrm>
            <a:off x="5857884" y="3500438"/>
            <a:ext cx="839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4" name="直接箭头连接符 83"/>
          <p:cNvCxnSpPr/>
          <p:nvPr/>
        </p:nvCxnSpPr>
        <p:spPr bwMode="auto">
          <a:xfrm flipV="1">
            <a:off x="4399074" y="2672350"/>
            <a:ext cx="0" cy="43006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5" name="TextBox 2085"/>
          <p:cNvSpPr txBox="1"/>
          <p:nvPr/>
        </p:nvSpPr>
        <p:spPr>
          <a:xfrm>
            <a:off x="4508233" y="2704985"/>
            <a:ext cx="839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1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导入</a:t>
            </a:r>
          </a:p>
        </p:txBody>
      </p:sp>
      <p:cxnSp>
        <p:nvCxnSpPr>
          <p:cNvPr id="86" name="直接箭头连接符 85"/>
          <p:cNvCxnSpPr/>
          <p:nvPr/>
        </p:nvCxnSpPr>
        <p:spPr bwMode="auto">
          <a:xfrm flipH="1">
            <a:off x="2120330" y="2067301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7" name="TextBox 2085"/>
          <p:cNvSpPr txBox="1"/>
          <p:nvPr/>
        </p:nvSpPr>
        <p:spPr>
          <a:xfrm>
            <a:off x="2337348" y="2135242"/>
            <a:ext cx="663016" cy="279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en-US" sz="12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推送</a:t>
            </a:r>
            <a:endParaRPr lang="zh-CN" altLang="en-US" sz="12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Box 31"/>
          <p:cNvSpPr txBox="1"/>
          <p:nvPr/>
        </p:nvSpPr>
        <p:spPr>
          <a:xfrm>
            <a:off x="665094" y="428670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智能门锁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1" name="图片-1.png"/>
          <p:cNvPicPr>
            <a:picLocks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74" y="2950540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77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143240" y="642918"/>
            <a:ext cx="3300357" cy="338051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n-ea"/>
                <a:ea typeface="+mn-ea"/>
                <a:sym typeface="Arial" charset="0"/>
              </a:rPr>
              <a:t>11</a:t>
            </a:r>
            <a:r>
              <a:rPr lang="zh-CN" altLang="en-US" sz="2800" b="1" dirty="0" smtClean="0">
                <a:latin typeface="+mn-ea"/>
                <a:ea typeface="+mn-ea"/>
                <a:sym typeface="Arial" charset="0"/>
              </a:rPr>
              <a:t>、门锁低电压</a:t>
            </a:r>
            <a:endParaRPr lang="zh-CN" altLang="zh-CN" sz="2800" b="1" dirty="0" smtClean="0">
              <a:latin typeface="+mn-ea"/>
              <a:ea typeface="+mn-ea"/>
              <a:sym typeface="Arial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072330" y="1291716"/>
            <a:ext cx="1495717" cy="1832895"/>
            <a:chOff x="642910" y="1204602"/>
            <a:chExt cx="1143008" cy="147946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916896" y="2410796"/>
              <a:ext cx="454718" cy="2732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租户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714744" y="3378601"/>
            <a:ext cx="1761881" cy="1418999"/>
            <a:chOff x="3010547" y="3375881"/>
            <a:chExt cx="2157564" cy="1443613"/>
          </a:xfrm>
        </p:grpSpPr>
        <p:pic>
          <p:nvPicPr>
            <p:cNvPr id="46" name="Picture 4" descr="C:\TDDOWNLOAD\20130321022108752_easyicon_net_128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7840" y="3375881"/>
              <a:ext cx="1085202" cy="1085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26"/>
            <p:cNvSpPr txBox="1"/>
            <p:nvPr/>
          </p:nvSpPr>
          <p:spPr>
            <a:xfrm>
              <a:off x="3010547" y="4506378"/>
              <a:ext cx="2157564" cy="313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smtClean="0">
                  <a:latin typeface="微软雅黑" pitchFamily="34" charset="-122"/>
                  <a:ea typeface="微软雅黑" pitchFamily="34" charset="-122"/>
                </a:rPr>
                <a:t>V</a:t>
              </a:r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领地智慧社区</a:t>
              </a:r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平台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54" name="直接箭头连接符 53"/>
          <p:cNvCxnSpPr/>
          <p:nvPr/>
        </p:nvCxnSpPr>
        <p:spPr bwMode="auto">
          <a:xfrm>
            <a:off x="2120330" y="1928802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6" name="TextBox 2085"/>
          <p:cNvSpPr txBox="1"/>
          <p:nvPr/>
        </p:nvSpPr>
        <p:spPr>
          <a:xfrm>
            <a:off x="2214546" y="1580365"/>
            <a:ext cx="1428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推送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 bwMode="auto">
          <a:xfrm>
            <a:off x="7715272" y="3222294"/>
            <a:ext cx="0" cy="13497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7" name="直接箭头连接符 76"/>
          <p:cNvCxnSpPr/>
          <p:nvPr/>
        </p:nvCxnSpPr>
        <p:spPr bwMode="auto">
          <a:xfrm>
            <a:off x="5710408" y="1928802"/>
            <a:ext cx="109434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8" name="TextBox 2085"/>
          <p:cNvSpPr txBox="1"/>
          <p:nvPr/>
        </p:nvSpPr>
        <p:spPr>
          <a:xfrm>
            <a:off x="5795422" y="1571612"/>
            <a:ext cx="839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通知</a:t>
            </a:r>
          </a:p>
        </p:txBody>
      </p:sp>
      <p:sp>
        <p:nvSpPr>
          <p:cNvPr id="79" name="TextBox 2085"/>
          <p:cNvSpPr txBox="1"/>
          <p:nvPr/>
        </p:nvSpPr>
        <p:spPr>
          <a:xfrm>
            <a:off x="7908253" y="3596467"/>
            <a:ext cx="839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告知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6" name="直接箭头连接符 85"/>
          <p:cNvCxnSpPr/>
          <p:nvPr/>
        </p:nvCxnSpPr>
        <p:spPr bwMode="auto">
          <a:xfrm flipH="1">
            <a:off x="2709100" y="5840222"/>
            <a:ext cx="3434536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7" name="TextBox 2085"/>
          <p:cNvSpPr txBox="1"/>
          <p:nvPr/>
        </p:nvSpPr>
        <p:spPr>
          <a:xfrm>
            <a:off x="3857620" y="5908163"/>
            <a:ext cx="1200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更换电池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971" y="1167201"/>
            <a:ext cx="1226368" cy="1153694"/>
          </a:xfrm>
          <a:prstGeom prst="rect">
            <a:avLst/>
          </a:prstGeom>
        </p:spPr>
      </p:pic>
      <p:grpSp>
        <p:nvGrpSpPr>
          <p:cNvPr id="63" name="组合 62"/>
          <p:cNvGrpSpPr/>
          <p:nvPr/>
        </p:nvGrpSpPr>
        <p:grpSpPr>
          <a:xfrm>
            <a:off x="7215207" y="4929198"/>
            <a:ext cx="1208395" cy="1633428"/>
            <a:chOff x="1376274" y="3071810"/>
            <a:chExt cx="1124024" cy="1529248"/>
          </a:xfrm>
        </p:grpSpPr>
        <p:graphicFrame>
          <p:nvGraphicFramePr>
            <p:cNvPr id="65" name="对象 64"/>
            <p:cNvGraphicFramePr>
              <a:graphicFrameLocks noChangeAspect="1"/>
            </p:cNvGraphicFramePr>
            <p:nvPr>
              <p:extLst/>
            </p:nvPr>
          </p:nvGraphicFramePr>
          <p:xfrm>
            <a:off x="1376274" y="3071810"/>
            <a:ext cx="1124024" cy="1128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" r:id="rId7" imgW="2476190" imgH="2704762" progId="">
                    <p:embed/>
                  </p:oleObj>
                </mc:Choice>
                <mc:Fallback>
                  <p:oleObj r:id="rId7" imgW="2476190" imgH="2704762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6274" y="3071810"/>
                          <a:ext cx="1124024" cy="1128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1369" y="3730547"/>
              <a:ext cx="357599" cy="452473"/>
            </a:xfrm>
            <a:prstGeom prst="rect">
              <a:avLst/>
            </a:prstGeom>
          </p:spPr>
        </p:pic>
        <p:sp>
          <p:nvSpPr>
            <p:cNvPr id="67" name="TextBox 11"/>
            <p:cNvSpPr txBox="1"/>
            <p:nvPr/>
          </p:nvSpPr>
          <p:spPr>
            <a:xfrm>
              <a:off x="1658336" y="4239871"/>
              <a:ext cx="690524" cy="361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店长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9" name="十字形 68"/>
          <p:cNvSpPr/>
          <p:nvPr/>
        </p:nvSpPr>
        <p:spPr bwMode="auto">
          <a:xfrm>
            <a:off x="4236180" y="2810442"/>
            <a:ext cx="417950" cy="405306"/>
          </a:xfrm>
          <a:prstGeom prst="plus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3" name="矩形 72"/>
          <p:cNvSpPr/>
          <p:nvPr/>
        </p:nvSpPr>
        <p:spPr bwMode="auto">
          <a:xfrm>
            <a:off x="3559071" y="1117168"/>
            <a:ext cx="1798747" cy="3740592"/>
          </a:xfrm>
          <a:prstGeom prst="rect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4" name="TextBox 26"/>
          <p:cNvSpPr txBox="1"/>
          <p:nvPr/>
        </p:nvSpPr>
        <p:spPr>
          <a:xfrm>
            <a:off x="4000496" y="2428868"/>
            <a:ext cx="1761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声音警报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297" y="4895462"/>
            <a:ext cx="374954" cy="765696"/>
          </a:xfrm>
          <a:prstGeom prst="rect">
            <a:avLst/>
          </a:prstGeom>
        </p:spPr>
      </p:pic>
      <p:cxnSp>
        <p:nvCxnSpPr>
          <p:cNvPr id="75" name="直接箭头连接符 74"/>
          <p:cNvCxnSpPr/>
          <p:nvPr/>
        </p:nvCxnSpPr>
        <p:spPr bwMode="auto">
          <a:xfrm flipV="1">
            <a:off x="1178316" y="3224570"/>
            <a:ext cx="0" cy="13497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8" name="TextBox 2085"/>
          <p:cNvSpPr txBox="1"/>
          <p:nvPr/>
        </p:nvSpPr>
        <p:spPr>
          <a:xfrm>
            <a:off x="1371297" y="3598743"/>
            <a:ext cx="1089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消除警报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411722" y="2823536"/>
            <a:ext cx="1606703" cy="1598347"/>
            <a:chOff x="7152572" y="1040986"/>
            <a:chExt cx="1606703" cy="1598347"/>
          </a:xfrm>
        </p:grpSpPr>
        <p:grpSp>
          <p:nvGrpSpPr>
            <p:cNvPr id="37" name="组合 36"/>
            <p:cNvGrpSpPr/>
            <p:nvPr/>
          </p:nvGrpSpPr>
          <p:grpSpPr>
            <a:xfrm>
              <a:off x="7378720" y="1040986"/>
              <a:ext cx="1193808" cy="1245006"/>
              <a:chOff x="814316" y="4357694"/>
              <a:chExt cx="2286016" cy="2286016"/>
            </a:xfrm>
          </p:grpSpPr>
          <p:pic>
            <p:nvPicPr>
              <p:cNvPr id="39" name="图片 38"/>
              <p:cNvPicPr>
                <a:picLocks noChangeAspect="1"/>
              </p:cNvPicPr>
              <p:nvPr/>
            </p:nvPicPr>
            <p:blipFill>
              <a:blip r:embed="rId11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4316" y="4357694"/>
                <a:ext cx="2286016" cy="2286016"/>
              </a:xfrm>
              <a:prstGeom prst="rect">
                <a:avLst/>
              </a:prstGeom>
            </p:spPr>
          </p:pic>
          <p:sp>
            <p:nvSpPr>
              <p:cNvPr id="41" name="文本框 40"/>
              <p:cNvSpPr txBox="1"/>
              <p:nvPr/>
            </p:nvSpPr>
            <p:spPr>
              <a:xfrm>
                <a:off x="1001495" y="5530918"/>
                <a:ext cx="2092336" cy="508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8" name="TextBox 26"/>
            <p:cNvSpPr txBox="1"/>
            <p:nvPr/>
          </p:nvSpPr>
          <p:spPr>
            <a:xfrm>
              <a:off x="7152572" y="2177668"/>
              <a:ext cx="16067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智能物联</a:t>
              </a:r>
              <a:endParaRPr lang="en-US" altLang="zh-CN" sz="1200" dirty="0" smtClean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00" dirty="0" smtClean="0">
                  <a:latin typeface="微软雅黑" pitchFamily="34" charset="-122"/>
                  <a:ea typeface="微软雅黑" pitchFamily="34" charset="-122"/>
                </a:rPr>
                <a:t>云端管理系统</a:t>
              </a:r>
              <a:endParaRPr lang="zh-CN" altLang="en-US" sz="12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42" name="直接箭头连接符 41"/>
          <p:cNvCxnSpPr/>
          <p:nvPr/>
        </p:nvCxnSpPr>
        <p:spPr bwMode="auto">
          <a:xfrm>
            <a:off x="6756989" y="4396943"/>
            <a:ext cx="522871" cy="48674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3" name="TextBox 2085"/>
          <p:cNvSpPr txBox="1"/>
          <p:nvPr/>
        </p:nvSpPr>
        <p:spPr>
          <a:xfrm>
            <a:off x="6443597" y="4596715"/>
            <a:ext cx="839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告知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Box 31"/>
          <p:cNvSpPr txBox="1"/>
          <p:nvPr/>
        </p:nvSpPr>
        <p:spPr>
          <a:xfrm>
            <a:off x="772053" y="6100303"/>
            <a:ext cx="1005403" cy="3231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电子门锁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5" name="图片-1.png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772" y="4673643"/>
            <a:ext cx="1082258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22" y="1292151"/>
            <a:ext cx="784402" cy="759034"/>
          </a:xfrm>
          <a:prstGeom prst="rect">
            <a:avLst/>
          </a:prstGeom>
        </p:spPr>
      </p:pic>
      <p:sp>
        <p:nvSpPr>
          <p:cNvPr id="48" name="TextBox 26"/>
          <p:cNvSpPr txBox="1"/>
          <p:nvPr/>
        </p:nvSpPr>
        <p:spPr>
          <a:xfrm>
            <a:off x="539956" y="2605830"/>
            <a:ext cx="1419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门锁低电压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9" name="图片-1.png"/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89" y="1087834"/>
            <a:ext cx="1071789" cy="134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778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105837" y="642918"/>
            <a:ext cx="3109085" cy="285751"/>
          </a:xfrm>
        </p:spPr>
        <p:txBody>
          <a:bodyPr/>
          <a:lstStyle/>
          <a:p>
            <a:pPr algn="l"/>
            <a:r>
              <a:rPr lang="en-US" altLang="zh-CN" sz="2800" b="1" dirty="0" smtClean="0">
                <a:latin typeface="+mn-ea"/>
                <a:ea typeface="+mn-ea"/>
                <a:sym typeface="Arial" charset="0"/>
              </a:rPr>
              <a:t>12</a:t>
            </a:r>
            <a:r>
              <a:rPr lang="zh-CN" altLang="en-US" sz="2800" b="1" dirty="0" smtClean="0">
                <a:latin typeface="+mn-ea"/>
                <a:ea typeface="+mn-ea"/>
                <a:sym typeface="Arial" charset="0"/>
              </a:rPr>
              <a:t>、云端管理</a:t>
            </a:r>
            <a:endParaRPr lang="zh-CN" altLang="zh-CN" sz="2800" b="1" dirty="0" smtClean="0">
              <a:latin typeface="+mn-ea"/>
              <a:ea typeface="+mn-ea"/>
              <a:sym typeface="Arial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92504" y="1137348"/>
            <a:ext cx="2170086" cy="2057271"/>
            <a:chOff x="642910" y="1204602"/>
            <a:chExt cx="1143008" cy="125646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910" y="1204602"/>
              <a:ext cx="1143008" cy="1025868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916896" y="2252850"/>
              <a:ext cx="530102" cy="2082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管理人员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55" name="直接箭头连接符 54"/>
          <p:cNvCxnSpPr/>
          <p:nvPr/>
        </p:nvCxnSpPr>
        <p:spPr bwMode="auto">
          <a:xfrm>
            <a:off x="6715140" y="3372525"/>
            <a:ext cx="0" cy="65081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86" name="TextBox 2085"/>
          <p:cNvSpPr txBox="1"/>
          <p:nvPr/>
        </p:nvSpPr>
        <p:spPr>
          <a:xfrm>
            <a:off x="3876043" y="1763901"/>
            <a:ext cx="1267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登陆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Box 2085"/>
          <p:cNvSpPr txBox="1"/>
          <p:nvPr/>
        </p:nvSpPr>
        <p:spPr>
          <a:xfrm>
            <a:off x="6780518" y="3500438"/>
            <a:ext cx="86095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 bwMode="auto">
          <a:xfrm flipH="1">
            <a:off x="3428992" y="5189999"/>
            <a:ext cx="175926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" name="组合 4"/>
          <p:cNvGrpSpPr/>
          <p:nvPr/>
        </p:nvGrpSpPr>
        <p:grpSpPr>
          <a:xfrm>
            <a:off x="5432811" y="1000106"/>
            <a:ext cx="2564659" cy="2361721"/>
            <a:chOff x="437209" y="4857760"/>
            <a:chExt cx="1606703" cy="1520599"/>
          </a:xfrm>
        </p:grpSpPr>
        <p:grpSp>
          <p:nvGrpSpPr>
            <p:cNvPr id="57" name="组合 56"/>
            <p:cNvGrpSpPr/>
            <p:nvPr/>
          </p:nvGrpSpPr>
          <p:grpSpPr>
            <a:xfrm>
              <a:off x="627177" y="4857760"/>
              <a:ext cx="1193808" cy="1245006"/>
              <a:chOff x="814316" y="4357694"/>
              <a:chExt cx="2286016" cy="2286016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4316" y="4357694"/>
                <a:ext cx="2286016" cy="2286016"/>
              </a:xfrm>
              <a:prstGeom prst="rect">
                <a:avLst/>
              </a:prstGeom>
            </p:spPr>
          </p:pic>
          <p:sp>
            <p:nvSpPr>
              <p:cNvPr id="59" name="文本框 58"/>
              <p:cNvSpPr txBox="1"/>
              <p:nvPr/>
            </p:nvSpPr>
            <p:spPr>
              <a:xfrm>
                <a:off x="1001495" y="5530918"/>
                <a:ext cx="2092336" cy="565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1" name="TextBox 26"/>
            <p:cNvSpPr txBox="1"/>
            <p:nvPr/>
          </p:nvSpPr>
          <p:spPr>
            <a:xfrm>
              <a:off x="437209" y="6001850"/>
              <a:ext cx="1606703" cy="376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智能物联</a:t>
              </a:r>
              <a:endParaRPr lang="en-US" altLang="zh-CN" sz="1600" dirty="0" smtClean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00" dirty="0" smtClean="0">
                  <a:latin typeface="微软雅黑" pitchFamily="34" charset="-122"/>
                  <a:ea typeface="微软雅黑" pitchFamily="34" charset="-122"/>
                </a:rPr>
                <a:t>云端管理系统</a:t>
              </a:r>
              <a:endParaRPr lang="zh-CN" altLang="en-US" sz="16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49" name="图片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560" y="4300558"/>
            <a:ext cx="1771648" cy="177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98" y="4236802"/>
            <a:ext cx="1999404" cy="1855987"/>
          </a:xfrm>
          <a:prstGeom prst="rect">
            <a:avLst/>
          </a:prstGeom>
        </p:spPr>
      </p:pic>
      <p:sp>
        <p:nvSpPr>
          <p:cNvPr id="52" name="TextBox 2"/>
          <p:cNvSpPr txBox="1"/>
          <p:nvPr/>
        </p:nvSpPr>
        <p:spPr>
          <a:xfrm>
            <a:off x="1366416" y="630515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大数据分析</a:t>
            </a:r>
          </a:p>
        </p:txBody>
      </p:sp>
      <p:sp>
        <p:nvSpPr>
          <p:cNvPr id="54" name="TextBox 26"/>
          <p:cNvSpPr txBox="1"/>
          <p:nvPr/>
        </p:nvSpPr>
        <p:spPr>
          <a:xfrm>
            <a:off x="5983158" y="6225994"/>
            <a:ext cx="2564659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门锁记录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状态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6" name="直接箭头连接符 55"/>
          <p:cNvCxnSpPr/>
          <p:nvPr/>
        </p:nvCxnSpPr>
        <p:spPr bwMode="auto">
          <a:xfrm>
            <a:off x="3428992" y="2214554"/>
            <a:ext cx="1759265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0" name="TextBox 2085"/>
          <p:cNvSpPr txBox="1"/>
          <p:nvPr/>
        </p:nvSpPr>
        <p:spPr>
          <a:xfrm>
            <a:off x="3920796" y="4764297"/>
            <a:ext cx="1267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</a:p>
        </p:txBody>
      </p:sp>
      <p:cxnSp>
        <p:nvCxnSpPr>
          <p:cNvPr id="64" name="直接箭头连接符 63"/>
          <p:cNvCxnSpPr/>
          <p:nvPr/>
        </p:nvCxnSpPr>
        <p:spPr bwMode="auto">
          <a:xfrm flipV="1">
            <a:off x="1923270" y="3433909"/>
            <a:ext cx="0" cy="65081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5" name="TextBox 2085"/>
          <p:cNvSpPr txBox="1"/>
          <p:nvPr/>
        </p:nvSpPr>
        <p:spPr>
          <a:xfrm>
            <a:off x="1988648" y="3561822"/>
            <a:ext cx="860954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14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决策</a:t>
            </a:r>
            <a:endParaRPr lang="zh-CN" altLang="en-US" sz="14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374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571472" y="2643182"/>
            <a:ext cx="7772400" cy="1470025"/>
          </a:xfrm>
        </p:spPr>
        <p:txBody>
          <a:bodyPr anchor="ctr"/>
          <a:lstStyle/>
          <a:p>
            <a:r>
              <a:rPr lang="zh-CN" altLang="en-US" b="1" dirty="0" smtClean="0"/>
              <a:t>二、智能锁方案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05275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二维码锁方案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307" y="1643050"/>
            <a:ext cx="7231386" cy="4525963"/>
          </a:xfrm>
        </p:spPr>
      </p:pic>
    </p:spTree>
    <p:extLst>
      <p:ext uri="{BB962C8B-B14F-4D97-AF65-F5344CB8AC3E}">
        <p14:creationId xmlns:p14="http://schemas.microsoft.com/office/powerpoint/2010/main" val="238771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蓝牙锁方案</a:t>
            </a:r>
            <a:endParaRPr lang="zh-CN" altLang="en-US" dirty="0"/>
          </a:p>
        </p:txBody>
      </p:sp>
      <p:pic>
        <p:nvPicPr>
          <p:cNvPr id="4" name="内容占位符 3" descr="cid:image004.png@01D01BAE.4A524730"/>
          <p:cNvPicPr>
            <a:picLocks noGrp="1"/>
          </p:cNvPicPr>
          <p:nvPr>
            <p:ph idx="1"/>
          </p:nvPr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60"/>
          <a:stretch/>
        </p:blipFill>
        <p:spPr bwMode="auto">
          <a:xfrm>
            <a:off x="884639" y="3396206"/>
            <a:ext cx="2472915" cy="327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953" y="1129925"/>
            <a:ext cx="4164651" cy="3381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"/>
          <p:cNvSpPr txBox="1"/>
          <p:nvPr/>
        </p:nvSpPr>
        <p:spPr>
          <a:xfrm>
            <a:off x="1261687" y="1552956"/>
            <a:ext cx="3671248" cy="522550"/>
          </a:xfrm>
          <a:prstGeom prst="rect">
            <a:avLst/>
          </a:prstGeom>
          <a:noFill/>
        </p:spPr>
        <p:txBody>
          <a:bodyPr wrap="square" lIns="90765" tIns="45388" rIns="90765" bIns="45388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远程秘钥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1261687" y="2657038"/>
            <a:ext cx="3671248" cy="522550"/>
          </a:xfrm>
          <a:prstGeom prst="rect">
            <a:avLst/>
          </a:prstGeom>
          <a:noFill/>
        </p:spPr>
        <p:txBody>
          <a:bodyPr wrap="square" lIns="90765" tIns="45388" rIns="90765" bIns="45388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蓝牙开门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6134522" y="4511751"/>
            <a:ext cx="3671248" cy="522550"/>
          </a:xfrm>
          <a:prstGeom prst="rect">
            <a:avLst/>
          </a:prstGeom>
          <a:noFill/>
        </p:spPr>
        <p:txBody>
          <a:bodyPr wrap="square" lIns="90765" tIns="45388" rIns="90765" bIns="45388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触摸密码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6183499" y="5600440"/>
            <a:ext cx="3671248" cy="522550"/>
          </a:xfrm>
          <a:prstGeom prst="rect">
            <a:avLst/>
          </a:prstGeom>
          <a:noFill/>
        </p:spPr>
        <p:txBody>
          <a:bodyPr wrap="square" lIns="90765" tIns="45388" rIns="90765" bIns="45388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云端控制</a:t>
            </a:r>
          </a:p>
        </p:txBody>
      </p:sp>
      <p:pic>
        <p:nvPicPr>
          <p:cNvPr id="10" name="图片-1.p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138" y="4102508"/>
            <a:ext cx="1353423" cy="1826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934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6588" y="2902675"/>
            <a:ext cx="6858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/>
              <a:t>Thank you</a:t>
            </a:r>
            <a:r>
              <a:rPr lang="zh-CN" altLang="en-US" sz="4800" b="1" dirty="0" smtClean="0"/>
              <a:t>！</a:t>
            </a:r>
            <a:r>
              <a:rPr lang="en-US" altLang="zh-CN" sz="4800" b="1" dirty="0" smtClean="0"/>
              <a:t> </a:t>
            </a:r>
            <a:endParaRPr lang="zh-CN" altLang="en-US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​​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FFFFFF"/>
    </a:accent3>
    <a:accent4>
      <a:srgbClr val="000000"/>
    </a:accent4>
    <a:accent5>
      <a:srgbClr val="B2C1DB"/>
    </a:accent5>
    <a:accent6>
      <a:srgbClr val="AE4845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157259942</TotalTime>
  <Pages>0</Pages>
  <Words>1339</Words>
  <Characters>0</Characters>
  <Application>Microsoft Office PowerPoint</Application>
  <DocSecurity>0</DocSecurity>
  <PresentationFormat>全屏显示(4:3)</PresentationFormat>
  <Lines>0</Lines>
  <Paragraphs>259</Paragraphs>
  <Slides>18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黑体</vt:lpstr>
      <vt:lpstr>宋体</vt:lpstr>
      <vt:lpstr>微软雅黑</vt:lpstr>
      <vt:lpstr>Arial</vt:lpstr>
      <vt:lpstr>Calibri</vt:lpstr>
      <vt:lpstr>Office 主题​​</vt:lpstr>
      <vt:lpstr>PowerPoint 演示文稿</vt:lpstr>
      <vt:lpstr>一、操作流程</vt:lpstr>
      <vt:lpstr>1、新店初始化安装门锁</vt:lpstr>
      <vt:lpstr>2、租户申请使用手机开锁</vt:lpstr>
      <vt:lpstr>3、租户换房更换电子钥匙</vt:lpstr>
      <vt:lpstr>4、租户续费</vt:lpstr>
      <vt:lpstr>5、租户未及时续费</vt:lpstr>
      <vt:lpstr>7、租户退房</vt:lpstr>
      <vt:lpstr>7、增加合租人</vt:lpstr>
      <vt:lpstr>8、变更合租人</vt:lpstr>
      <vt:lpstr>9、访客来访</vt:lpstr>
      <vt:lpstr>10、租户手机遗失</vt:lpstr>
      <vt:lpstr>11、门锁低电压</vt:lpstr>
      <vt:lpstr>12、云端管理</vt:lpstr>
      <vt:lpstr>二、智能锁方案</vt:lpstr>
      <vt:lpstr>二维码锁方案</vt:lpstr>
      <vt:lpstr>蓝牙锁方案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Violett</dc:creator>
  <cp:lastModifiedBy>taoyang</cp:lastModifiedBy>
  <cp:revision>687</cp:revision>
  <cp:lastPrinted>2014-11-26T05:48:22Z</cp:lastPrinted>
  <dcterms:created xsi:type="dcterms:W3CDTF">2011-08-17T09:00:00Z</dcterms:created>
  <dcterms:modified xsi:type="dcterms:W3CDTF">2015-11-23T02:16:29Z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2052-9.1.0.4429</vt:lpwstr>
  </property>
</Properties>
</file>